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95" r:id="rId1"/>
  </p:sldMasterIdLst>
  <p:notesMasterIdLst>
    <p:notesMasterId r:id="rId28"/>
  </p:notesMasterIdLst>
  <p:sldIdLst>
    <p:sldId id="570" r:id="rId2"/>
    <p:sldId id="598" r:id="rId3"/>
    <p:sldId id="574" r:id="rId4"/>
    <p:sldId id="575" r:id="rId5"/>
    <p:sldId id="577" r:id="rId6"/>
    <p:sldId id="580" r:id="rId7"/>
    <p:sldId id="578" r:id="rId8"/>
    <p:sldId id="579" r:id="rId9"/>
    <p:sldId id="581" r:id="rId10"/>
    <p:sldId id="582" r:id="rId11"/>
    <p:sldId id="576" r:id="rId12"/>
    <p:sldId id="583" r:id="rId13"/>
    <p:sldId id="584" r:id="rId14"/>
    <p:sldId id="585" r:id="rId15"/>
    <p:sldId id="586" r:id="rId16"/>
    <p:sldId id="587" r:id="rId17"/>
    <p:sldId id="588" r:id="rId18"/>
    <p:sldId id="589" r:id="rId19"/>
    <p:sldId id="590" r:id="rId20"/>
    <p:sldId id="591" r:id="rId21"/>
    <p:sldId id="592" r:id="rId22"/>
    <p:sldId id="593" r:id="rId23"/>
    <p:sldId id="594" r:id="rId24"/>
    <p:sldId id="595" r:id="rId25"/>
    <p:sldId id="596" r:id="rId26"/>
    <p:sldId id="597" r:id="rId27"/>
  </p:sldIdLst>
  <p:sldSz cx="9144000" cy="6858000" type="screen4x3"/>
  <p:notesSz cx="6797675" cy="9928225"/>
  <p:embeddedFontLst>
    <p:embeddedFont>
      <p:font typeface="맑은 고딕" pitchFamily="50" charset="-127"/>
      <p:regular r:id="rId29"/>
      <p:bold r:id="rId30"/>
    </p:embeddedFont>
    <p:embeddedFont>
      <p:font typeface="HY중고딕" pitchFamily="18" charset="-127"/>
      <p:regular r:id="rId31"/>
    </p:embeddedFont>
    <p:embeddedFont>
      <p:font typeface="HY헤드라인M" pitchFamily="18" charset="-127"/>
      <p:regular r:id="rId3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6600"/>
    <a:srgbClr val="339966"/>
    <a:srgbClr val="003300"/>
    <a:srgbClr val="339933"/>
    <a:srgbClr val="00CC99"/>
    <a:srgbClr val="0000FF"/>
    <a:srgbClr val="3366FF"/>
    <a:srgbClr val="134E73"/>
    <a:srgbClr val="0066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3" autoAdjust="0"/>
    <p:restoredTop sz="91736" autoAdjust="0"/>
  </p:normalViewPr>
  <p:slideViewPr>
    <p:cSldViewPr>
      <p:cViewPr varScale="1">
        <p:scale>
          <a:sx n="75" d="100"/>
          <a:sy n="75" d="100"/>
        </p:scale>
        <p:origin x="-84" y="-846"/>
      </p:cViewPr>
      <p:guideLst>
        <p:guide orient="horz" pos="1706"/>
        <p:guide pos="2880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2058" y="-78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44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4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AB7EE4F-70D5-4C2B-886A-A5CE5C3B92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smtClean="0">
              <a:latin typeface="Arial" charset="0"/>
            </a:endParaRPr>
          </a:p>
        </p:txBody>
      </p:sp>
      <p:sp>
        <p:nvSpPr>
          <p:cNvPr id="419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873018-C6DC-4E5C-8F52-3E512DCC1654}" type="slidenum">
              <a:rPr lang="en-US" altLang="ko-KR">
                <a:latin typeface="Arial" charset="0"/>
              </a:rPr>
              <a:pPr/>
              <a:t>2</a:t>
            </a:fld>
            <a:endParaRPr lang="en-US" altLang="ko-KR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smtClean="0">
              <a:latin typeface="Arial" charset="0"/>
            </a:endParaRPr>
          </a:p>
        </p:txBody>
      </p:sp>
      <p:sp>
        <p:nvSpPr>
          <p:cNvPr id="419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873018-C6DC-4E5C-8F52-3E512DCC1654}" type="slidenum">
              <a:rPr lang="en-US" altLang="ko-KR">
                <a:latin typeface="Arial" charset="0"/>
              </a:rPr>
              <a:pPr/>
              <a:t>3</a:t>
            </a:fld>
            <a:endParaRPr lang="en-US" altLang="ko-KR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B7EE4F-70D5-4C2B-886A-A5CE5C3B9254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24"/>
          <p:cNvGrpSpPr/>
          <p:nvPr/>
        </p:nvGrpSpPr>
        <p:grpSpPr>
          <a:xfrm>
            <a:off x="71406" y="71414"/>
            <a:ext cx="9001156" cy="3857652"/>
            <a:chOff x="71406" y="71414"/>
            <a:chExt cx="8858315" cy="3997931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71406" y="71414"/>
              <a:ext cx="5715040" cy="3500462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 userDrawn="1"/>
          </p:nvSpPr>
          <p:spPr>
            <a:xfrm>
              <a:off x="5857884" y="71414"/>
              <a:ext cx="3071834" cy="3500462"/>
            </a:xfrm>
            <a:prstGeom prst="rect">
              <a:avLst/>
            </a:prstGeom>
            <a:gradFill flip="none" rotWithShape="1">
              <a:gsLst>
                <a:gs pos="42000">
                  <a:schemeClr val="bg1">
                    <a:lumMod val="75000"/>
                    <a:tint val="66000"/>
                    <a:satMod val="160000"/>
                    <a:alpha val="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44500"/>
                    <a:satMod val="160000"/>
                  </a:schemeClr>
                </a:gs>
                <a:gs pos="61000">
                  <a:schemeClr val="bg1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 userDrawn="1"/>
          </p:nvSpPr>
          <p:spPr>
            <a:xfrm>
              <a:off x="704145" y="3625130"/>
              <a:ext cx="8225576" cy="4442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b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컴퓨터 보안과 암호</a:t>
              </a:r>
              <a:endParaRPr lang="ko-KR" altLang="en-US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6" name="직사각형 25"/>
          <p:cNvSpPr/>
          <p:nvPr/>
        </p:nvSpPr>
        <p:spPr>
          <a:xfrm>
            <a:off x="71406" y="3500438"/>
            <a:ext cx="571504" cy="4286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214282" y="3714752"/>
            <a:ext cx="285752" cy="1588"/>
          </a:xfrm>
          <a:prstGeom prst="straightConnector1">
            <a:avLst/>
          </a:prstGeom>
          <a:ln w="38100">
            <a:solidFill>
              <a:schemeClr val="bg1"/>
            </a:solidFill>
            <a:headEnd w="med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0" y="6572272"/>
            <a:ext cx="9144000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457200" y="775063"/>
            <a:ext cx="4898571" cy="203780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673350" y="4737100"/>
            <a:ext cx="4494213" cy="879475"/>
          </a:xfrm>
        </p:spPr>
        <p:txBody>
          <a:bodyPr>
            <a:normAutofit/>
          </a:bodyPr>
          <a:lstStyle>
            <a:lvl1pPr algn="ctr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부제목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-32" y="6500810"/>
            <a:ext cx="8572560" cy="3571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>
            <a:off x="-32" y="-24"/>
            <a:ext cx="9144032" cy="78581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  <a:shade val="30000"/>
                  <a:satMod val="115000"/>
                </a:schemeClr>
              </a:gs>
              <a:gs pos="50000">
                <a:schemeClr val="accent3">
                  <a:lumMod val="50000"/>
                  <a:shade val="67500"/>
                  <a:satMod val="115000"/>
                </a:schemeClr>
              </a:gs>
              <a:gs pos="100000">
                <a:schemeClr val="accent3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8572496" y="6500834"/>
            <a:ext cx="571504" cy="35716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5"/>
          <p:cNvSpPr txBox="1">
            <a:spLocks/>
          </p:cNvSpPr>
          <p:nvPr userDrawn="1"/>
        </p:nvSpPr>
        <p:spPr>
          <a:xfrm>
            <a:off x="8572528" y="6572272"/>
            <a:ext cx="571504" cy="29368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73BE6-7C45-4BD7-97F4-BFB0B357CDB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9" name="제목 1"/>
          <p:cNvSpPr txBox="1">
            <a:spLocks/>
          </p:cNvSpPr>
          <p:nvPr userDrawn="1"/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5750" y="928670"/>
            <a:ext cx="8229600" cy="5072078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SzTx/>
              <a:buFontTx/>
              <a:buChar char="•"/>
              <a:tabLst/>
              <a:defRPr sz="2400"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  <a:lvl2pPr marL="742950" marR="0" indent="-28575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75000"/>
                </a:schemeClr>
              </a:buClr>
              <a:buSzTx/>
              <a:buFont typeface="Arial" charset="0"/>
              <a:buChar char="•"/>
              <a:tabLst/>
              <a:defRPr sz="1800"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2pPr>
            <a:lvl3pPr marL="12573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itchFamily="34" charset="0"/>
              <a:buChar char="•"/>
              <a:tabLst/>
              <a:defRPr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3pPr>
          </a:lstStyle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SzTx/>
              <a:buFontTx/>
              <a:buChar char="•"/>
              <a:tabLst/>
              <a:defRPr/>
            </a:pPr>
            <a:r>
              <a:rPr kumimoji="1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+mn-cs"/>
              </a:rPr>
              <a:t>마스터 텍스트 스타일을 편집합니다</a:t>
            </a:r>
          </a:p>
          <a:p>
            <a:pPr marL="742950" marR="0" lvl="1" indent="-28575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6">
                  <a:lumMod val="75000"/>
                </a:schemeClr>
              </a:buClr>
              <a:buSzTx/>
              <a:buFont typeface="Arial" charset="0"/>
              <a:buChar char="•"/>
              <a:tabLst/>
              <a:defRPr/>
            </a:pPr>
            <a:r>
              <a:rPr kumimoji="1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둘째 수준</a:t>
            </a:r>
          </a:p>
          <a:p>
            <a:pPr marL="1257300" marR="0" lvl="2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셋째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1925" y="125413"/>
            <a:ext cx="8229600" cy="490537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  <a:cs typeface="조선일보명조" pitchFamily="18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32" y="6500810"/>
            <a:ext cx="8572560" cy="3571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00108"/>
            <a:ext cx="8229600" cy="512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-32" y="-24"/>
            <a:ext cx="9144032" cy="78581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  <a:shade val="30000"/>
                  <a:satMod val="115000"/>
                </a:schemeClr>
              </a:gs>
              <a:gs pos="50000">
                <a:schemeClr val="accent3">
                  <a:lumMod val="50000"/>
                  <a:shade val="67500"/>
                  <a:satMod val="115000"/>
                </a:schemeClr>
              </a:gs>
              <a:gs pos="100000">
                <a:schemeClr val="accent3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572496" y="6500834"/>
            <a:ext cx="571504" cy="35716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 txBox="1">
            <a:spLocks/>
          </p:cNvSpPr>
          <p:nvPr/>
        </p:nvSpPr>
        <p:spPr>
          <a:xfrm>
            <a:off x="8572528" y="6572272"/>
            <a:ext cx="571504" cy="29368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73BE6-7C45-4BD7-97F4-BFB0B357CDB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786" r:id="rId5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/>
          <p:cNvSpPr>
            <a:spLocks noGrp="1"/>
          </p:cNvSpPr>
          <p:nvPr>
            <p:ph type="title"/>
          </p:nvPr>
        </p:nvSpPr>
        <p:spPr>
          <a:xfrm>
            <a:off x="457200" y="775063"/>
            <a:ext cx="5554960" cy="258192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/>
            </a:pPr>
            <a:r>
              <a:rPr lang="en-US" altLang="ko-KR" b="1" dirty="0" smtClean="0">
                <a:latin typeface="+mj-ea"/>
                <a:ea typeface="+mj-ea"/>
              </a:rPr>
              <a:t>7</a:t>
            </a:r>
            <a:r>
              <a:rPr dirty="0" smtClean="0">
                <a:latin typeface="+mj-ea"/>
              </a:rPr>
              <a:t>장</a:t>
            </a:r>
            <a:r>
              <a:rPr lang="en-US" altLang="ko-KR" b="1" dirty="0" smtClean="0">
                <a:latin typeface="+mj-ea"/>
                <a:ea typeface="+mj-ea"/>
              </a:rPr>
              <a:t/>
            </a:r>
            <a:br>
              <a:rPr lang="en-US" altLang="ko-KR" b="1" dirty="0" smtClean="0">
                <a:latin typeface="+mj-ea"/>
                <a:ea typeface="+mj-ea"/>
              </a:rPr>
            </a:br>
            <a:r>
              <a:rPr lang="ko-KR" altLang="en-US" b="1" dirty="0" smtClean="0">
                <a:latin typeface="+mj-ea"/>
                <a:ea typeface="+mj-ea"/>
              </a:rPr>
              <a:t>의사 </a:t>
            </a:r>
            <a:r>
              <a:rPr lang="ko-KR" altLang="en-US" b="1" dirty="0" err="1" smtClean="0">
                <a:latin typeface="+mj-ea"/>
                <a:ea typeface="+mj-ea"/>
              </a:rPr>
              <a:t>난수</a:t>
            </a:r>
            <a:r>
              <a:rPr lang="ko-KR" altLang="en-US" b="1" dirty="0" smtClean="0">
                <a:latin typeface="+mj-ea"/>
                <a:ea typeface="+mj-ea"/>
              </a:rPr>
              <a:t> 생성과 </a:t>
            </a:r>
            <a:r>
              <a:rPr lang="ko-KR" altLang="en-US" b="1" dirty="0" err="1" smtClean="0">
                <a:latin typeface="+mj-ea"/>
                <a:ea typeface="+mj-ea"/>
              </a:rPr>
              <a:t>스트림</a:t>
            </a:r>
            <a:r>
              <a:rPr lang="ko-KR" altLang="en-US" b="1" dirty="0" smtClean="0">
                <a:latin typeface="+mj-ea"/>
                <a:ea typeface="+mj-ea"/>
              </a:rPr>
              <a:t> </a:t>
            </a:r>
            <a:r>
              <a:rPr lang="ko-KR" altLang="en-US" b="1" dirty="0" smtClean="0">
                <a:latin typeface="+mj-ea"/>
                <a:ea typeface="+mj-ea"/>
              </a:rPr>
              <a:t>암호</a:t>
            </a:r>
            <a:r>
              <a:rPr lang="en-US" altLang="ko-KR" b="1" dirty="0" smtClean="0">
                <a:latin typeface="+mj-ea"/>
                <a:ea typeface="+mj-ea"/>
              </a:rPr>
              <a:t/>
            </a:r>
            <a:br>
              <a:rPr lang="en-US" altLang="ko-KR" b="1" dirty="0" smtClean="0">
                <a:latin typeface="+mj-ea"/>
                <a:ea typeface="+mj-ea"/>
              </a:rPr>
            </a:br>
            <a:r>
              <a:rPr lang="en-US" altLang="ko-KR" dirty="0" smtClean="0">
                <a:latin typeface="+mj-ea"/>
              </a:rPr>
              <a:t>(Stream Ciphers and Random Number Generation)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32" y="1071546"/>
            <a:ext cx="7229468" cy="5054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2000" b="1" dirty="0" smtClean="0"/>
              <a:t>7.1   </a:t>
            </a:r>
            <a:r>
              <a:rPr lang="ko-KR" altLang="en-US" sz="2000" b="1" dirty="0" smtClean="0"/>
              <a:t>의사 </a:t>
            </a:r>
            <a:r>
              <a:rPr lang="ko-KR" altLang="en-US" sz="2000" b="1" dirty="0" err="1" smtClean="0"/>
              <a:t>난수</a:t>
            </a:r>
            <a:r>
              <a:rPr lang="ko-KR" altLang="en-US" sz="2000" b="1" dirty="0" smtClean="0"/>
              <a:t> 생성의 원리</a:t>
            </a:r>
          </a:p>
          <a:p>
            <a:pPr>
              <a:buNone/>
            </a:pPr>
            <a:r>
              <a:rPr lang="en-US" altLang="ko-KR" sz="2000" b="1" dirty="0" smtClean="0"/>
              <a:t>7.2   </a:t>
            </a:r>
            <a:r>
              <a:rPr lang="ko-KR" altLang="en-US" sz="2000" b="1" dirty="0" smtClean="0"/>
              <a:t>의사 </a:t>
            </a:r>
            <a:r>
              <a:rPr lang="ko-KR" altLang="en-US" sz="2000" b="1" dirty="0" err="1" smtClean="0"/>
              <a:t>난수</a:t>
            </a:r>
            <a:r>
              <a:rPr lang="ko-KR" altLang="en-US" sz="2000" b="1" dirty="0" smtClean="0"/>
              <a:t> </a:t>
            </a:r>
            <a:r>
              <a:rPr lang="ko-KR" altLang="en-US" sz="2000" b="1" dirty="0" err="1" smtClean="0"/>
              <a:t>생성기</a:t>
            </a:r>
            <a:endParaRPr lang="ko-KR" altLang="en-US" sz="2000" b="1" dirty="0" smtClean="0"/>
          </a:p>
          <a:p>
            <a:pPr>
              <a:buNone/>
            </a:pPr>
            <a:r>
              <a:rPr lang="en-US" altLang="ko-KR" sz="2000" b="1" dirty="0" smtClean="0"/>
              <a:t>7.3   </a:t>
            </a:r>
            <a:r>
              <a:rPr lang="ko-KR" altLang="en-US" sz="2000" b="1" dirty="0" smtClean="0"/>
              <a:t>블록 암호를 이용한 의사 </a:t>
            </a:r>
            <a:r>
              <a:rPr lang="ko-KR" altLang="en-US" sz="2000" b="1" dirty="0" err="1" smtClean="0"/>
              <a:t>난수</a:t>
            </a:r>
            <a:r>
              <a:rPr lang="ko-KR" altLang="en-US" sz="2000" b="1" dirty="0" smtClean="0"/>
              <a:t> 생성</a:t>
            </a:r>
          </a:p>
          <a:p>
            <a:pPr>
              <a:buNone/>
            </a:pPr>
            <a:r>
              <a:rPr lang="en-US" altLang="ko-KR" sz="2000" b="1" dirty="0" smtClean="0"/>
              <a:t>7.4   </a:t>
            </a:r>
            <a:r>
              <a:rPr lang="ko-KR" altLang="en-US" sz="2000" b="1" dirty="0" err="1" smtClean="0"/>
              <a:t>스트림</a:t>
            </a:r>
            <a:r>
              <a:rPr lang="ko-KR" altLang="en-US" sz="2000" b="1" dirty="0" smtClean="0"/>
              <a:t> 암호</a:t>
            </a:r>
          </a:p>
          <a:p>
            <a:pPr>
              <a:buNone/>
            </a:pPr>
            <a:r>
              <a:rPr lang="en-US" altLang="ko-KR" sz="2000" b="1" dirty="0" smtClean="0"/>
              <a:t>7.5   RC4</a:t>
            </a:r>
          </a:p>
          <a:p>
            <a:pPr>
              <a:buNone/>
            </a:pPr>
            <a:r>
              <a:rPr lang="en-US" altLang="ko-KR" sz="2000" b="1" dirty="0" smtClean="0"/>
              <a:t>7.6   </a:t>
            </a:r>
            <a:r>
              <a:rPr lang="ko-KR" altLang="en-US" sz="2000" b="1" dirty="0" smtClean="0"/>
              <a:t>진 </a:t>
            </a:r>
            <a:r>
              <a:rPr lang="ko-KR" altLang="en-US" sz="2000" b="1" dirty="0" err="1" smtClean="0"/>
              <a:t>난수</a:t>
            </a:r>
            <a:r>
              <a:rPr lang="ko-KR" altLang="en-US" sz="2000" b="1" dirty="0" smtClean="0"/>
              <a:t> </a:t>
            </a:r>
            <a:r>
              <a:rPr lang="ko-KR" altLang="en-US" sz="2000" b="1" dirty="0" err="1" smtClean="0"/>
              <a:t>생성기</a:t>
            </a:r>
            <a:endParaRPr lang="ko-KR" altLang="en-US" sz="2000" b="1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핵심정리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 err="1" smtClean="0"/>
              <a:t>난수</a:t>
            </a:r>
            <a:r>
              <a:rPr lang="ko-KR" altLang="en-US" dirty="0" smtClean="0"/>
              <a:t> 혹은 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생성은 많은 암호 함수에 적용되는 기능</a:t>
            </a:r>
            <a:endParaRPr lang="en-US" altLang="ko-KR" dirty="0" smtClean="0"/>
          </a:p>
          <a:p>
            <a:pPr eaLnBrk="1" hangingPunct="1">
              <a:defRPr/>
            </a:pPr>
            <a:endParaRPr lang="en-US" altLang="ko-KR" dirty="0" smtClean="0"/>
          </a:p>
          <a:p>
            <a:pPr eaLnBrk="1" hangingPunct="1">
              <a:defRPr/>
            </a:pPr>
            <a:r>
              <a:rPr lang="ko-KR" altLang="en-US" dirty="0" smtClean="0"/>
              <a:t>필수조건</a:t>
            </a:r>
            <a:endParaRPr lang="en-US" altLang="ko-KR" dirty="0" smtClean="0"/>
          </a:p>
          <a:p>
            <a:pPr lvl="1" eaLnBrk="1" hangingPunct="1">
              <a:defRPr/>
            </a:pPr>
            <a:r>
              <a:rPr lang="ko-KR" altLang="en-US" dirty="0" smtClean="0"/>
              <a:t>생성되는 수의 </a:t>
            </a:r>
            <a:r>
              <a:rPr lang="ko-KR" altLang="en-US" dirty="0" err="1" smtClean="0"/>
              <a:t>스트림이</a:t>
            </a:r>
            <a:r>
              <a:rPr lang="ko-KR" altLang="en-US" dirty="0" smtClean="0"/>
              <a:t> 예상할 수 없는 수</a:t>
            </a:r>
            <a:endParaRPr lang="en-US" altLang="ko-KR" dirty="0" smtClean="0"/>
          </a:p>
          <a:p>
            <a:pPr lvl="1" eaLnBrk="1" hangingPunct="1">
              <a:defRPr/>
            </a:pPr>
            <a:endParaRPr lang="en-US" altLang="ko-KR" dirty="0" smtClean="0"/>
          </a:p>
          <a:p>
            <a:pPr eaLnBrk="1" hangingPunct="1">
              <a:defRPr/>
            </a:pPr>
            <a:r>
              <a:rPr lang="ko-KR" altLang="en-US" dirty="0" err="1" smtClean="0"/>
              <a:t>스트림</a:t>
            </a:r>
            <a:r>
              <a:rPr lang="ko-KR" altLang="en-US" dirty="0" smtClean="0"/>
              <a:t> 암호</a:t>
            </a:r>
            <a:endParaRPr lang="en-US" altLang="ko-KR" dirty="0" smtClean="0"/>
          </a:p>
          <a:p>
            <a:pPr lvl="1" eaLnBrk="1" hangingPunct="1">
              <a:defRPr/>
            </a:pPr>
            <a:r>
              <a:rPr lang="ko-KR" altLang="en-US" dirty="0" smtClean="0"/>
              <a:t>입력되는 </a:t>
            </a:r>
            <a:r>
              <a:rPr lang="ko-KR" altLang="en-US" dirty="0" err="1" smtClean="0"/>
              <a:t>평문의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스트림으로부터</a:t>
            </a:r>
            <a:r>
              <a:rPr lang="ko-KR" altLang="en-US" dirty="0" smtClean="0"/>
              <a:t> 비트 혹은 바이트 단위로 암호문 출력 생성</a:t>
            </a:r>
            <a:endParaRPr lang="en-US" altLang="ko-KR" dirty="0" smtClean="0"/>
          </a:p>
          <a:p>
            <a:pPr lvl="1" eaLnBrk="1" hangingPunct="1">
              <a:defRPr/>
            </a:pPr>
            <a:r>
              <a:rPr lang="ko-KR" altLang="en-US" dirty="0" smtClean="0"/>
              <a:t>가장 널리 사용되는 암호 </a:t>
            </a:r>
            <a:r>
              <a:rPr lang="en-US" altLang="ko-KR" dirty="0" smtClean="0"/>
              <a:t>: RC4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7.1 </a:t>
            </a:r>
            <a:r>
              <a:rPr lang="ko-KR" altLang="en-US" dirty="0" smtClean="0"/>
              <a:t>의사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생성의 원리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 err="1" smtClean="0"/>
              <a:t>난수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특정한 배열 순서나 규칙을 가지지 않는 연속적인 임의의 수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의사난수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컴퓨터에 의해서 만들어지는 </a:t>
            </a:r>
            <a:r>
              <a:rPr lang="ko-KR" altLang="en-US" dirty="0" err="1" smtClean="0"/>
              <a:t>난수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아주 긴 주기를 가지고 있는 숫자 열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임의성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균일분포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수열의 비트 분포가 균일</a:t>
            </a:r>
            <a:r>
              <a:rPr lang="en-US" altLang="ko-KR" dirty="0" smtClean="0"/>
              <a:t>, 0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의 출현빈도가 거이 동일해야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독립성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수열의 어느 부분 수열도 다른 부분 수열로부터 추정될 수 없음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r>
              <a:rPr lang="ko-KR" altLang="en-US" dirty="0" err="1" smtClean="0"/>
              <a:t>비예측성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수열의 잇따른 다음 수의 순서에 대해 예측이 불가능해야 함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7.1 </a:t>
            </a:r>
            <a:r>
              <a:rPr lang="ko-KR" altLang="en-US" dirty="0" smtClean="0"/>
              <a:t>의사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생성의 원리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TRNG</a:t>
            </a:r>
            <a:r>
              <a:rPr lang="en-US" altLang="ko-KR" sz="1800" dirty="0" smtClean="0"/>
              <a:t>(True Random Number Generator : </a:t>
            </a:r>
            <a:r>
              <a:rPr lang="ko-KR" altLang="en-US" sz="1800" dirty="0" smtClean="0"/>
              <a:t>진 </a:t>
            </a:r>
            <a:r>
              <a:rPr lang="ko-KR" altLang="en-US" sz="1800" dirty="0" err="1" smtClean="0"/>
              <a:t>난수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생성기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dirty="0" smtClean="0"/>
              <a:t>실제적으로 </a:t>
            </a:r>
            <a:r>
              <a:rPr lang="ko-KR" altLang="en-US" dirty="0" err="1" smtClean="0"/>
              <a:t>랜덤한</a:t>
            </a:r>
            <a:r>
              <a:rPr lang="ko-KR" altLang="en-US" dirty="0" smtClean="0"/>
              <a:t> 소스를 입력으로 사용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키보드 입력 타이밍 패턴 및 마우스 움직임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디스크의 전기적 활동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시스템 </a:t>
            </a:r>
            <a:r>
              <a:rPr lang="ko-KR" altLang="en-US" dirty="0" err="1" smtClean="0"/>
              <a:t>클럭의</a:t>
            </a:r>
            <a:r>
              <a:rPr lang="ko-KR" altLang="en-US" dirty="0" smtClean="0"/>
              <a:t> 순간 값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PRNG</a:t>
            </a:r>
            <a:r>
              <a:rPr lang="en-US" altLang="ko-KR" sz="1800" dirty="0" smtClean="0"/>
              <a:t>(Pseudo Random Number Generator : </a:t>
            </a:r>
            <a:r>
              <a:rPr lang="ko-KR" altLang="en-US" sz="1800" dirty="0" err="1" smtClean="0"/>
              <a:t>의사난수발생기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dirty="0" err="1" smtClean="0"/>
              <a:t>고정값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seed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입력받아</a:t>
            </a:r>
            <a:r>
              <a:rPr lang="ko-KR" altLang="en-US" dirty="0" smtClean="0"/>
              <a:t> 결정적 알고리즘을 사용하여 출력 </a:t>
            </a:r>
            <a:r>
              <a:rPr lang="ko-KR" altLang="en-US" dirty="0" err="1" smtClean="0"/>
              <a:t>비트열</a:t>
            </a:r>
            <a:r>
              <a:rPr lang="ko-KR" altLang="en-US" dirty="0" smtClean="0"/>
              <a:t> 생성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제한이 없는 </a:t>
            </a:r>
            <a:r>
              <a:rPr lang="ko-KR" altLang="en-US" dirty="0" err="1" smtClean="0"/>
              <a:t>비트열</a:t>
            </a:r>
            <a:r>
              <a:rPr lang="ko-KR" altLang="en-US" dirty="0" smtClean="0"/>
              <a:t> 생성하는데 사용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알고리즘과 </a:t>
            </a:r>
            <a:r>
              <a:rPr lang="ko-KR" altLang="en-US" dirty="0" err="1" smtClean="0"/>
              <a:t>시드를</a:t>
            </a:r>
            <a:r>
              <a:rPr lang="ko-KR" altLang="en-US" dirty="0" smtClean="0"/>
              <a:t> 알고 있는 공격자는 </a:t>
            </a:r>
            <a:r>
              <a:rPr lang="ko-KR" altLang="en-US" dirty="0" err="1" smtClean="0"/>
              <a:t>비트열</a:t>
            </a:r>
            <a:r>
              <a:rPr lang="ko-KR" altLang="en-US" dirty="0" smtClean="0"/>
              <a:t> 재생성 가능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PRF</a:t>
            </a:r>
            <a:r>
              <a:rPr lang="en-US" altLang="ko-KR" sz="1800" dirty="0" smtClean="0"/>
              <a:t>(Pseudo Random Function : </a:t>
            </a:r>
            <a:r>
              <a:rPr lang="ko-KR" altLang="en-US" sz="1800" dirty="0" err="1" smtClean="0"/>
              <a:t>의사난수함수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dirty="0" smtClean="0"/>
              <a:t>고정된 길이의 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비트열을</a:t>
            </a:r>
            <a:r>
              <a:rPr lang="ko-KR" altLang="en-US" dirty="0" smtClean="0"/>
              <a:t> 생산하는데 사용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모서리가 둥근 직사각형 21"/>
          <p:cNvSpPr/>
          <p:nvPr/>
        </p:nvSpPr>
        <p:spPr bwMode="auto">
          <a:xfrm>
            <a:off x="539552" y="1844824"/>
            <a:ext cx="2664296" cy="367240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7.1 </a:t>
            </a:r>
            <a:r>
              <a:rPr lang="ko-KR" altLang="en-US" dirty="0" smtClean="0"/>
              <a:t>의사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생성의 원리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난수와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의사난수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 bwMode="auto">
          <a:xfrm>
            <a:off x="1115616" y="2996952"/>
            <a:ext cx="1512168" cy="115212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Conversion to binary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225724" y="2060848"/>
            <a:ext cx="129614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Source</a:t>
            </a:r>
            <a:r>
              <a:rPr kumimoji="0" lang="ko-KR" altLang="en-US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 </a:t>
            </a:r>
            <a:r>
              <a:rPr kumimoji="0" lang="en-US" altLang="ko-KR" sz="13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of true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randomness</a:t>
            </a:r>
            <a:endParaRPr kumimoji="0" lang="ko-KR" altLang="en-US" sz="13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9" name="직선 화살표 연결선 8"/>
          <p:cNvCxnSpPr>
            <a:stCxn id="8" idx="2"/>
            <a:endCxn id="6" idx="0"/>
          </p:cNvCxnSpPr>
          <p:nvPr/>
        </p:nvCxnSpPr>
        <p:spPr bwMode="auto">
          <a:xfrm rot="5400000">
            <a:off x="1750945" y="2874100"/>
            <a:ext cx="243607" cy="2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직선 화살표 연결선 18"/>
          <p:cNvCxnSpPr/>
          <p:nvPr/>
        </p:nvCxnSpPr>
        <p:spPr bwMode="auto">
          <a:xfrm rot="5400000">
            <a:off x="1693776" y="4329101"/>
            <a:ext cx="36004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 bwMode="auto">
          <a:xfrm>
            <a:off x="1231057" y="4509120"/>
            <a:ext cx="12961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Random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Bit stream</a:t>
            </a:r>
            <a:endParaRPr kumimoji="0" lang="ko-KR" altLang="en-US" sz="13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043608" y="5445224"/>
            <a:ext cx="1656184" cy="2880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TRNG</a:t>
            </a:r>
            <a:endParaRPr kumimoji="1" lang="ko-KR" altLang="en-US" sz="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4" name="모서리가 둥근 직사각형 23"/>
          <p:cNvSpPr/>
          <p:nvPr/>
        </p:nvSpPr>
        <p:spPr bwMode="auto">
          <a:xfrm>
            <a:off x="3347864" y="1844824"/>
            <a:ext cx="2664296" cy="367240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923928" y="3107060"/>
            <a:ext cx="1512168" cy="100811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Deterministic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algorithm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4034036" y="2356123"/>
            <a:ext cx="12961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seed</a:t>
            </a:r>
            <a:endParaRPr kumimoji="0" lang="ko-KR" altLang="en-US" sz="13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27" name="직선 화살표 연결선 26"/>
          <p:cNvCxnSpPr>
            <a:stCxn id="26" idx="2"/>
            <a:endCxn id="25" idx="0"/>
          </p:cNvCxnSpPr>
          <p:nvPr/>
        </p:nvCxnSpPr>
        <p:spPr bwMode="auto">
          <a:xfrm rot="5400000">
            <a:off x="4451786" y="2876737"/>
            <a:ext cx="458549" cy="2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직선 화살표 연결선 27"/>
          <p:cNvCxnSpPr/>
          <p:nvPr/>
        </p:nvCxnSpPr>
        <p:spPr bwMode="auto">
          <a:xfrm rot="5400000">
            <a:off x="4502088" y="4329101"/>
            <a:ext cx="36004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TextBox 28"/>
          <p:cNvSpPr txBox="1"/>
          <p:nvPr/>
        </p:nvSpPr>
        <p:spPr bwMode="auto">
          <a:xfrm>
            <a:off x="3938786" y="4509120"/>
            <a:ext cx="149731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Pseudorandom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Bit stream</a:t>
            </a:r>
            <a:endParaRPr kumimoji="0" lang="ko-KR" altLang="en-US" sz="13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851920" y="5445224"/>
            <a:ext cx="1656184" cy="2880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PRNG</a:t>
            </a:r>
            <a:endParaRPr kumimoji="1" lang="ko-KR" altLang="en-US" sz="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39" name="Shape 38"/>
          <p:cNvCxnSpPr/>
          <p:nvPr/>
        </p:nvCxnSpPr>
        <p:spPr bwMode="auto">
          <a:xfrm rot="5400000" flipH="1">
            <a:off x="3745209" y="3611116"/>
            <a:ext cx="1008112" cy="1588"/>
          </a:xfrm>
          <a:prstGeom prst="bentConnector5">
            <a:avLst>
              <a:gd name="adj1" fmla="val -22676"/>
              <a:gd name="adj2" fmla="val 32017264"/>
              <a:gd name="adj3" fmla="val 12267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1" name="모서리가 둥근 직사각형 40"/>
          <p:cNvSpPr/>
          <p:nvPr/>
        </p:nvSpPr>
        <p:spPr bwMode="auto">
          <a:xfrm>
            <a:off x="6156176" y="1844824"/>
            <a:ext cx="2664296" cy="367240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6732240" y="3107060"/>
            <a:ext cx="1512168" cy="100811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Deterministic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algorithm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6842348" y="2356123"/>
            <a:ext cx="12961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seed</a:t>
            </a:r>
            <a:endParaRPr kumimoji="0" lang="ko-KR" altLang="en-US" sz="13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44" name="직선 화살표 연결선 43"/>
          <p:cNvCxnSpPr>
            <a:stCxn id="43" idx="2"/>
            <a:endCxn id="42" idx="0"/>
          </p:cNvCxnSpPr>
          <p:nvPr/>
        </p:nvCxnSpPr>
        <p:spPr bwMode="auto">
          <a:xfrm rot="5400000">
            <a:off x="7260098" y="2876737"/>
            <a:ext cx="458549" cy="2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직선 화살표 연결선 44"/>
          <p:cNvCxnSpPr/>
          <p:nvPr/>
        </p:nvCxnSpPr>
        <p:spPr bwMode="auto">
          <a:xfrm rot="5400000">
            <a:off x="7310400" y="4329101"/>
            <a:ext cx="36004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TextBox 45"/>
          <p:cNvSpPr txBox="1"/>
          <p:nvPr/>
        </p:nvSpPr>
        <p:spPr bwMode="auto">
          <a:xfrm>
            <a:off x="6747098" y="4509120"/>
            <a:ext cx="149731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Pseudorandom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Value</a:t>
            </a:r>
            <a:endParaRPr kumimoji="0" lang="ko-KR" altLang="en-US" sz="13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6660232" y="5445224"/>
            <a:ext cx="1656184" cy="2880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PRF</a:t>
            </a:r>
            <a:endParaRPr kumimoji="1" lang="ko-KR" altLang="en-US" sz="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48" name="Shape 47"/>
          <p:cNvCxnSpPr/>
          <p:nvPr/>
        </p:nvCxnSpPr>
        <p:spPr bwMode="auto">
          <a:xfrm rot="5400000" flipH="1">
            <a:off x="6553521" y="3611116"/>
            <a:ext cx="1008112" cy="1588"/>
          </a:xfrm>
          <a:prstGeom prst="bentConnector5">
            <a:avLst>
              <a:gd name="adj1" fmla="val -22676"/>
              <a:gd name="adj2" fmla="val 32017264"/>
              <a:gd name="adj3" fmla="val 12267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TextBox 48"/>
          <p:cNvSpPr txBox="1"/>
          <p:nvPr/>
        </p:nvSpPr>
        <p:spPr bwMode="auto">
          <a:xfrm>
            <a:off x="7740352" y="2075706"/>
            <a:ext cx="86409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3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Context-specific values</a:t>
            </a:r>
            <a:endParaRPr kumimoji="0" lang="ko-KR" altLang="en-US" sz="13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50" name="직선 화살표 연결선 49"/>
          <p:cNvCxnSpPr>
            <a:stCxn id="49" idx="2"/>
          </p:cNvCxnSpPr>
          <p:nvPr/>
        </p:nvCxnSpPr>
        <p:spPr bwMode="auto">
          <a:xfrm rot="5400000">
            <a:off x="8014593" y="2926010"/>
            <a:ext cx="315615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7.1 </a:t>
            </a:r>
            <a:r>
              <a:rPr lang="ko-KR" altLang="en-US" dirty="0" smtClean="0"/>
              <a:t>의사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생성의 원리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PRNG </a:t>
            </a:r>
            <a:r>
              <a:rPr lang="ko-KR" altLang="en-US" dirty="0" smtClean="0"/>
              <a:t>요구 사항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Seed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알지못하는</a:t>
            </a:r>
            <a:r>
              <a:rPr lang="ko-KR" altLang="en-US" dirty="0" smtClean="0"/>
              <a:t> 공격자가 의사 </a:t>
            </a:r>
            <a:r>
              <a:rPr lang="ko-KR" altLang="en-US" dirty="0" err="1" smtClean="0"/>
              <a:t>난수열을</a:t>
            </a:r>
            <a:r>
              <a:rPr lang="ko-KR" altLang="en-US" dirty="0" smtClean="0"/>
              <a:t> 결정할 수가 없어야 함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임의성</a:t>
            </a:r>
            <a:r>
              <a:rPr lang="en-US" altLang="ko-KR" dirty="0" smtClean="0"/>
              <a:t>(Randomness)</a:t>
            </a:r>
          </a:p>
          <a:p>
            <a:pPr lvl="2"/>
            <a:r>
              <a:rPr lang="ko-KR" altLang="en-US" dirty="0" smtClean="0"/>
              <a:t>생성된 비트 </a:t>
            </a:r>
            <a:r>
              <a:rPr lang="ko-KR" altLang="en-US" dirty="0" err="1" smtClean="0"/>
              <a:t>스트림이</a:t>
            </a:r>
            <a:r>
              <a:rPr lang="ko-KR" altLang="en-US" dirty="0" smtClean="0"/>
              <a:t> 결정적일지라도 </a:t>
            </a:r>
            <a:r>
              <a:rPr lang="ko-KR" altLang="en-US" dirty="0" err="1" smtClean="0"/>
              <a:t>랜덤하게</a:t>
            </a:r>
            <a:r>
              <a:rPr lang="ko-KR" altLang="en-US" dirty="0" smtClean="0"/>
              <a:t> 보여야 함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균일성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난수</a:t>
            </a:r>
            <a:r>
              <a:rPr lang="ko-KR" altLang="en-US" dirty="0" smtClean="0"/>
              <a:t> 또는 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비트열의 생성에 있어서 </a:t>
            </a:r>
            <a:r>
              <a:rPr lang="en-US" altLang="ko-KR" dirty="0" smtClean="0"/>
              <a:t>0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은 거이 동일하게 존재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확장성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비트열이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랜덤하면</a:t>
            </a:r>
            <a:r>
              <a:rPr lang="ko-KR" altLang="en-US" dirty="0" smtClean="0"/>
              <a:t> 무작위로 추출된 어떤 비트열도 </a:t>
            </a:r>
            <a:r>
              <a:rPr lang="ko-KR" altLang="en-US" dirty="0" err="1" smtClean="0"/>
              <a:t>랜덤해야</a:t>
            </a:r>
            <a:r>
              <a:rPr lang="ko-KR" altLang="en-US" dirty="0" smtClean="0"/>
              <a:t> 함</a:t>
            </a:r>
            <a:endParaRPr lang="en-US" altLang="ko-KR" dirty="0" smtClean="0"/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일관성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3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err="1" smtClean="0">
                <a:solidFill>
                  <a:prstClr val="black"/>
                </a:solidFill>
              </a:rPr>
              <a:t>생성기의</a:t>
            </a:r>
            <a:r>
              <a:rPr lang="ko-KR" altLang="en-US" dirty="0" smtClean="0">
                <a:solidFill>
                  <a:prstClr val="black"/>
                </a:solidFill>
              </a:rPr>
              <a:t> 동작은 초기값 전반에 대해 일관되어야 함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3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3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	</a:t>
            </a:r>
          </a:p>
          <a:p>
            <a:pPr lvl="3"/>
            <a:endParaRPr lang="en-US" altLang="ko-KR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7.1 </a:t>
            </a:r>
            <a:r>
              <a:rPr lang="ko-KR" altLang="en-US" dirty="0" smtClean="0"/>
              <a:t>의사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생성의 원리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 smtClean="0"/>
              <a:t>PRNG </a:t>
            </a:r>
            <a:r>
              <a:rPr lang="ko-KR" altLang="en-US" dirty="0" smtClean="0"/>
              <a:t>요구 사항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계속</a:t>
            </a:r>
            <a:r>
              <a:rPr lang="en-US" altLang="ko-KR" sz="1800" dirty="0" smtClean="0"/>
              <a:t>)</a:t>
            </a:r>
          </a:p>
          <a:p>
            <a:pPr lvl="1"/>
            <a:r>
              <a:rPr lang="ko-KR" altLang="en-US" dirty="0" err="1" smtClean="0"/>
              <a:t>비예측성</a:t>
            </a:r>
            <a:r>
              <a:rPr lang="en-US" altLang="ko-KR" dirty="0" smtClean="0"/>
              <a:t>(Unpredictability)</a:t>
            </a:r>
          </a:p>
          <a:p>
            <a:pPr lvl="2"/>
            <a:r>
              <a:rPr lang="ko-KR" altLang="en-US" dirty="0" smtClean="0"/>
              <a:t>수열의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잇따른 다음수의 순서에 대해 예측이 불가능해야 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전 방향 </a:t>
            </a:r>
            <a:r>
              <a:rPr lang="ko-KR" altLang="en-US" dirty="0" err="1" smtClean="0"/>
              <a:t>비예측성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이전 비트들에 대한 정보가 있다고 하더라도 다음 출력 비트는 예측할 수 없어야 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후 방향 </a:t>
            </a:r>
            <a:r>
              <a:rPr lang="ko-KR" altLang="en-US" dirty="0" err="1" smtClean="0"/>
              <a:t>비예측성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생성된 어떠한 값의 정보를 통해서도 </a:t>
            </a:r>
            <a:r>
              <a:rPr lang="en-US" altLang="ko-KR" dirty="0" smtClean="0"/>
              <a:t>seed</a:t>
            </a:r>
            <a:r>
              <a:rPr lang="ko-KR" altLang="en-US" dirty="0" smtClean="0"/>
              <a:t>를 결정할 수 없어야 함</a:t>
            </a:r>
            <a:endParaRPr lang="en-US" altLang="ko-KR" dirty="0" smtClean="0"/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err="1" smtClean="0">
                <a:solidFill>
                  <a:prstClr val="black"/>
                </a:solidFill>
              </a:rPr>
              <a:t>시드요구사항</a:t>
            </a:r>
            <a:r>
              <a:rPr lang="en-US" altLang="ko-KR" dirty="0" smtClean="0">
                <a:solidFill>
                  <a:prstClr val="black"/>
                </a:solidFill>
              </a:rPr>
              <a:t>(Seed Requirements)</a:t>
            </a: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Seed</a:t>
            </a:r>
            <a:r>
              <a:rPr lang="ko-KR" altLang="en-US" dirty="0" smtClean="0">
                <a:solidFill>
                  <a:prstClr val="black"/>
                </a:solidFill>
              </a:rPr>
              <a:t>는 예측 불가능해야 함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Seed</a:t>
            </a:r>
            <a:r>
              <a:rPr lang="ko-KR" altLang="en-US" dirty="0" smtClean="0">
                <a:solidFill>
                  <a:prstClr val="black"/>
                </a:solidFill>
              </a:rPr>
              <a:t>는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err="1" smtClean="0">
                <a:solidFill>
                  <a:prstClr val="black"/>
                </a:solidFill>
              </a:rPr>
              <a:t>난수</a:t>
            </a:r>
            <a:r>
              <a:rPr lang="ko-KR" altLang="en-US" dirty="0" smtClean="0">
                <a:solidFill>
                  <a:prstClr val="black"/>
                </a:solidFill>
              </a:rPr>
              <a:t> 또는 </a:t>
            </a:r>
            <a:r>
              <a:rPr lang="ko-KR" altLang="en-US" dirty="0" err="1" smtClean="0">
                <a:solidFill>
                  <a:prstClr val="black"/>
                </a:solidFill>
              </a:rPr>
              <a:t>의사난수이어야</a:t>
            </a:r>
            <a:r>
              <a:rPr lang="ko-KR" altLang="en-US" dirty="0" smtClean="0">
                <a:solidFill>
                  <a:prstClr val="black"/>
                </a:solidFill>
              </a:rPr>
              <a:t> 함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TRNG</a:t>
            </a:r>
            <a:r>
              <a:rPr lang="ko-KR" altLang="en-US" dirty="0" smtClean="0">
                <a:solidFill>
                  <a:prstClr val="black"/>
                </a:solidFill>
              </a:rPr>
              <a:t>에 의해 </a:t>
            </a:r>
            <a:r>
              <a:rPr lang="en-US" altLang="ko-KR" dirty="0" smtClean="0">
                <a:solidFill>
                  <a:prstClr val="black"/>
                </a:solidFill>
              </a:rPr>
              <a:t>seed</a:t>
            </a:r>
            <a:r>
              <a:rPr lang="ko-KR" altLang="en-US" dirty="0" smtClean="0">
                <a:solidFill>
                  <a:prstClr val="black"/>
                </a:solidFill>
              </a:rPr>
              <a:t>생성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3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SP800-90</a:t>
            </a:r>
            <a:r>
              <a:rPr lang="ko-KR" altLang="en-US" dirty="0" smtClean="0">
                <a:solidFill>
                  <a:prstClr val="black"/>
                </a:solidFill>
              </a:rPr>
              <a:t>에서 권고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3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	</a:t>
            </a:r>
          </a:p>
          <a:p>
            <a:pPr lvl="3"/>
            <a:endParaRPr lang="en-US" altLang="ko-KR" dirty="0" smtClean="0"/>
          </a:p>
        </p:txBody>
      </p:sp>
      <p:sp>
        <p:nvSpPr>
          <p:cNvPr id="6" name="직사각형 5"/>
          <p:cNvSpPr/>
          <p:nvPr/>
        </p:nvSpPr>
        <p:spPr bwMode="auto">
          <a:xfrm>
            <a:off x="6300192" y="3717032"/>
            <a:ext cx="1368152" cy="9361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True random number generator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(TRNG)</a:t>
            </a:r>
            <a:endParaRPr kumimoji="1" lang="ko-KR" alt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6300192" y="4995250"/>
            <a:ext cx="1368152" cy="9361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Pseudorandom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number generator</a:t>
            </a:r>
            <a:endParaRPr kumimoji="1" lang="en-US" altLang="ko-KR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(PRNG)</a:t>
            </a:r>
            <a:endParaRPr kumimoji="1" lang="ko-KR" alt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6336052" y="3257513"/>
            <a:ext cx="12961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Entropy source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10" name="직선 화살표 연결선 9"/>
          <p:cNvCxnSpPr>
            <a:stCxn id="8" idx="2"/>
            <a:endCxn id="6" idx="0"/>
          </p:cNvCxnSpPr>
          <p:nvPr/>
        </p:nvCxnSpPr>
        <p:spPr bwMode="auto">
          <a:xfrm rot="16200000" flipH="1">
            <a:off x="6877547" y="3610311"/>
            <a:ext cx="213298" cy="1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직선 화살표 연결선 11"/>
          <p:cNvCxnSpPr>
            <a:stCxn id="6" idx="2"/>
            <a:endCxn id="7" idx="0"/>
          </p:cNvCxnSpPr>
          <p:nvPr/>
        </p:nvCxnSpPr>
        <p:spPr bwMode="auto">
          <a:xfrm rot="5400000">
            <a:off x="6813211" y="4824193"/>
            <a:ext cx="34211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 bwMode="auto">
          <a:xfrm>
            <a:off x="6948264" y="4715618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seed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15" name="직선 화살표 연결선 14"/>
          <p:cNvCxnSpPr/>
          <p:nvPr/>
        </p:nvCxnSpPr>
        <p:spPr bwMode="auto">
          <a:xfrm rot="16200000" flipH="1">
            <a:off x="6877547" y="6028335"/>
            <a:ext cx="213298" cy="1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 bwMode="auto">
          <a:xfrm>
            <a:off x="6338859" y="6126637"/>
            <a:ext cx="1296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Pseudorandom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Bit stream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7.1 </a:t>
            </a:r>
            <a:r>
              <a:rPr lang="ko-KR" altLang="en-US" dirty="0" smtClean="0"/>
              <a:t>의사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생성의 원리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알고리즘 설계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특정 목적을 위한 알고리즘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err="1" smtClean="0">
                <a:solidFill>
                  <a:prstClr val="black"/>
                </a:solidFill>
              </a:rPr>
              <a:t>의사난수</a:t>
            </a:r>
            <a:r>
              <a:rPr lang="ko-KR" altLang="en-US" dirty="0" smtClean="0">
                <a:solidFill>
                  <a:prstClr val="black"/>
                </a:solidFill>
              </a:rPr>
              <a:t> 비트 </a:t>
            </a:r>
            <a:r>
              <a:rPr lang="ko-KR" altLang="en-US" dirty="0" err="1" smtClean="0">
                <a:solidFill>
                  <a:prstClr val="black"/>
                </a:solidFill>
              </a:rPr>
              <a:t>스트림</a:t>
            </a:r>
            <a:r>
              <a:rPr lang="ko-KR" altLang="en-US" dirty="0" smtClean="0">
                <a:solidFill>
                  <a:prstClr val="black"/>
                </a:solidFill>
              </a:rPr>
              <a:t> 생성을 목적으로 특정하고 유일하게 설계된 알고리즘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다양한 </a:t>
            </a:r>
            <a:r>
              <a:rPr lang="en-US" altLang="ko-KR" dirty="0" smtClean="0">
                <a:solidFill>
                  <a:prstClr val="black"/>
                </a:solidFill>
              </a:rPr>
              <a:t>PRNG </a:t>
            </a:r>
            <a:r>
              <a:rPr lang="ko-KR" altLang="en-US" dirty="0" smtClean="0">
                <a:solidFill>
                  <a:prstClr val="black"/>
                </a:solidFill>
              </a:rPr>
              <a:t>응용에 사용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기존의 암호 알고리즘에 기반을 둔 알고리즘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암호알고리즘은 입력을 </a:t>
            </a:r>
            <a:r>
              <a:rPr lang="ko-KR" altLang="en-US" dirty="0" err="1" smtClean="0">
                <a:solidFill>
                  <a:prstClr val="black"/>
                </a:solidFill>
              </a:rPr>
              <a:t>난수로</a:t>
            </a:r>
            <a:r>
              <a:rPr lang="ko-KR" altLang="en-US" dirty="0" smtClean="0">
                <a:solidFill>
                  <a:prstClr val="black"/>
                </a:solidFill>
              </a:rPr>
              <a:t> 만드는 효과가 있음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대칭블록암호 </a:t>
            </a:r>
            <a:r>
              <a:rPr lang="en-US" altLang="ko-KR" dirty="0" smtClean="0">
                <a:solidFill>
                  <a:prstClr val="black"/>
                </a:solidFill>
              </a:rPr>
              <a:t>: 7.3</a:t>
            </a:r>
            <a:r>
              <a:rPr lang="ko-KR" altLang="en-US" dirty="0" smtClean="0">
                <a:solidFill>
                  <a:prstClr val="black"/>
                </a:solidFill>
              </a:rPr>
              <a:t>절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비대칭 암호 </a:t>
            </a:r>
            <a:r>
              <a:rPr lang="en-US" altLang="ko-KR" dirty="0" smtClean="0">
                <a:solidFill>
                  <a:prstClr val="black"/>
                </a:solidFill>
              </a:rPr>
              <a:t>: 10</a:t>
            </a:r>
            <a:r>
              <a:rPr lang="ko-KR" altLang="en-US" dirty="0" smtClean="0">
                <a:solidFill>
                  <a:prstClr val="black"/>
                </a:solidFill>
              </a:rPr>
              <a:t>장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err="1" smtClean="0">
                <a:solidFill>
                  <a:prstClr val="black"/>
                </a:solidFill>
              </a:rPr>
              <a:t>해쉬함수와</a:t>
            </a:r>
            <a:r>
              <a:rPr lang="ko-KR" altLang="en-US" dirty="0" smtClean="0">
                <a:solidFill>
                  <a:prstClr val="black"/>
                </a:solidFill>
              </a:rPr>
              <a:t> 메시지 인증 코드 </a:t>
            </a:r>
            <a:r>
              <a:rPr lang="en-US" altLang="ko-KR" dirty="0" smtClean="0">
                <a:solidFill>
                  <a:prstClr val="black"/>
                </a:solidFill>
              </a:rPr>
              <a:t>: 12</a:t>
            </a:r>
            <a:r>
              <a:rPr lang="ko-KR" altLang="en-US" dirty="0" smtClean="0">
                <a:solidFill>
                  <a:prstClr val="black"/>
                </a:solidFill>
              </a:rPr>
              <a:t>장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3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	</a:t>
            </a:r>
          </a:p>
          <a:p>
            <a:pPr lvl="3"/>
            <a:endParaRPr lang="en-US" altLang="ko-KR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7.2 </a:t>
            </a:r>
            <a:r>
              <a:rPr lang="ko-KR" altLang="en-US" dirty="0" smtClean="0"/>
              <a:t>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err="1" smtClean="0">
                <a:solidFill>
                  <a:prstClr val="black"/>
                </a:solidFill>
              </a:rPr>
              <a:t>선형합동생성기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err="1" smtClean="0">
                <a:solidFill>
                  <a:prstClr val="black"/>
                </a:solidFill>
              </a:rPr>
              <a:t>Lehmer</a:t>
            </a:r>
            <a:r>
              <a:rPr lang="ko-KR" altLang="en-US" dirty="0" smtClean="0">
                <a:solidFill>
                  <a:prstClr val="black"/>
                </a:solidFill>
              </a:rPr>
              <a:t>에 의해 처음 제안된 알고리즘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선형 합동 방법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a, c</a:t>
            </a:r>
            <a:r>
              <a:rPr lang="ko-KR" altLang="en-US" dirty="0" smtClean="0">
                <a:solidFill>
                  <a:prstClr val="black"/>
                </a:solidFill>
              </a:rPr>
              <a:t>및 </a:t>
            </a:r>
            <a:r>
              <a:rPr lang="en-US" altLang="ko-KR" dirty="0" smtClean="0">
                <a:solidFill>
                  <a:prstClr val="black"/>
                </a:solidFill>
              </a:rPr>
              <a:t>m</a:t>
            </a:r>
            <a:r>
              <a:rPr lang="ko-KR" altLang="en-US" dirty="0" smtClean="0">
                <a:solidFill>
                  <a:prstClr val="black"/>
                </a:solidFill>
              </a:rPr>
              <a:t>값의 선정은 좋은 </a:t>
            </a:r>
            <a:r>
              <a:rPr lang="ko-KR" altLang="en-US" dirty="0" err="1" smtClean="0">
                <a:solidFill>
                  <a:prstClr val="black"/>
                </a:solidFill>
              </a:rPr>
              <a:t>난수</a:t>
            </a:r>
            <a:r>
              <a:rPr lang="ko-KR" altLang="en-US" dirty="0" smtClean="0">
                <a:solidFill>
                  <a:prstClr val="black"/>
                </a:solidFill>
              </a:rPr>
              <a:t> </a:t>
            </a:r>
            <a:r>
              <a:rPr lang="ko-KR" altLang="en-US" dirty="0" err="1" smtClean="0">
                <a:solidFill>
                  <a:prstClr val="black"/>
                </a:solidFill>
              </a:rPr>
              <a:t>생성기의</a:t>
            </a:r>
            <a:r>
              <a:rPr lang="ko-KR" altLang="en-US" dirty="0" smtClean="0">
                <a:solidFill>
                  <a:prstClr val="black"/>
                </a:solidFill>
              </a:rPr>
              <a:t> 개발에 중요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err="1" smtClean="0">
                <a:solidFill>
                  <a:prstClr val="black"/>
                </a:solidFill>
              </a:rPr>
              <a:t>난수</a:t>
            </a:r>
            <a:r>
              <a:rPr lang="ko-KR" altLang="en-US" dirty="0" smtClean="0">
                <a:solidFill>
                  <a:prstClr val="black"/>
                </a:solidFill>
              </a:rPr>
              <a:t> </a:t>
            </a:r>
            <a:r>
              <a:rPr lang="ko-KR" altLang="en-US" dirty="0" err="1" smtClean="0">
                <a:solidFill>
                  <a:prstClr val="black"/>
                </a:solidFill>
              </a:rPr>
              <a:t>생성기의</a:t>
            </a:r>
            <a:r>
              <a:rPr lang="ko-KR" altLang="en-US" dirty="0" smtClean="0">
                <a:solidFill>
                  <a:prstClr val="black"/>
                </a:solidFill>
              </a:rPr>
              <a:t> 평가 기준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T1 : </a:t>
            </a:r>
            <a:r>
              <a:rPr lang="ko-KR" altLang="en-US" dirty="0" err="1" smtClean="0">
                <a:solidFill>
                  <a:prstClr val="black"/>
                </a:solidFill>
              </a:rPr>
              <a:t>난수</a:t>
            </a:r>
            <a:r>
              <a:rPr lang="ko-KR" altLang="en-US" dirty="0" smtClean="0">
                <a:solidFill>
                  <a:prstClr val="black"/>
                </a:solidFill>
              </a:rPr>
              <a:t> 생성 함수는 최대 생성 주기를 가져야 한다</a:t>
            </a:r>
            <a:r>
              <a:rPr lang="en-US" altLang="ko-KR" dirty="0" smtClean="0">
                <a:solidFill>
                  <a:prstClr val="black"/>
                </a:solidFill>
              </a:rPr>
              <a:t>. </a:t>
            </a:r>
            <a:r>
              <a:rPr lang="ko-KR" altLang="en-US" dirty="0" smtClean="0">
                <a:solidFill>
                  <a:prstClr val="black"/>
                </a:solidFill>
              </a:rPr>
              <a:t>즉</a:t>
            </a:r>
            <a:r>
              <a:rPr lang="en-US" altLang="ko-KR" dirty="0" smtClean="0">
                <a:solidFill>
                  <a:prstClr val="black"/>
                </a:solidFill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</a:rPr>
              <a:t>함수는 반복되기 전에 </a:t>
            </a:r>
            <a:r>
              <a:rPr lang="en-US" altLang="ko-KR" dirty="0" smtClean="0">
                <a:solidFill>
                  <a:prstClr val="black"/>
                </a:solidFill>
              </a:rPr>
              <a:t>0</a:t>
            </a:r>
            <a:r>
              <a:rPr lang="ko-KR" altLang="en-US" dirty="0" smtClean="0">
                <a:solidFill>
                  <a:prstClr val="black"/>
                </a:solidFill>
              </a:rPr>
              <a:t>과 </a:t>
            </a:r>
            <a:r>
              <a:rPr lang="en-US" altLang="ko-KR" dirty="0" smtClean="0">
                <a:solidFill>
                  <a:prstClr val="black"/>
                </a:solidFill>
              </a:rPr>
              <a:t>m</a:t>
            </a:r>
            <a:r>
              <a:rPr lang="ko-KR" altLang="en-US" dirty="0" smtClean="0">
                <a:solidFill>
                  <a:prstClr val="black"/>
                </a:solidFill>
              </a:rPr>
              <a:t>사이의 모든 값을 생성해야 한다</a:t>
            </a:r>
            <a:r>
              <a:rPr lang="en-US" altLang="ko-KR" dirty="0" smtClean="0">
                <a:solidFill>
                  <a:prstClr val="black"/>
                </a:solidFill>
              </a:rPr>
              <a:t>.</a:t>
            </a: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T2 : </a:t>
            </a:r>
            <a:r>
              <a:rPr lang="ko-KR" altLang="en-US" dirty="0" smtClean="0">
                <a:solidFill>
                  <a:prstClr val="black"/>
                </a:solidFill>
              </a:rPr>
              <a:t>생성된 수열은 </a:t>
            </a:r>
            <a:r>
              <a:rPr lang="ko-KR" altLang="en-US" dirty="0" err="1" smtClean="0">
                <a:solidFill>
                  <a:prstClr val="black"/>
                </a:solidFill>
              </a:rPr>
              <a:t>랜덤하게</a:t>
            </a:r>
            <a:r>
              <a:rPr lang="ko-KR" altLang="en-US" dirty="0" smtClean="0">
                <a:solidFill>
                  <a:prstClr val="black"/>
                </a:solidFill>
              </a:rPr>
              <a:t> 보여야 한다</a:t>
            </a:r>
            <a:r>
              <a:rPr lang="en-US" altLang="ko-KR" dirty="0" smtClean="0">
                <a:solidFill>
                  <a:prstClr val="black"/>
                </a:solidFill>
              </a:rPr>
              <a:t>.</a:t>
            </a: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en-US" altLang="ko-KR" dirty="0" smtClean="0">
                <a:solidFill>
                  <a:prstClr val="black"/>
                </a:solidFill>
              </a:rPr>
              <a:t>T3 : </a:t>
            </a:r>
            <a:r>
              <a:rPr lang="ko-KR" altLang="en-US" dirty="0" smtClean="0">
                <a:solidFill>
                  <a:prstClr val="black"/>
                </a:solidFill>
              </a:rPr>
              <a:t>함수는 </a:t>
            </a:r>
            <a:r>
              <a:rPr lang="en-US" altLang="ko-KR" dirty="0" smtClean="0">
                <a:solidFill>
                  <a:prstClr val="black"/>
                </a:solidFill>
              </a:rPr>
              <a:t>32</a:t>
            </a:r>
            <a:r>
              <a:rPr lang="ko-KR" altLang="en-US" dirty="0" smtClean="0">
                <a:solidFill>
                  <a:prstClr val="black"/>
                </a:solidFill>
              </a:rPr>
              <a:t>비트 연산을 효율적으로 수행해야 한다</a:t>
            </a:r>
            <a:r>
              <a:rPr lang="en-US" altLang="ko-KR" dirty="0" smtClean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475656" y="2132856"/>
            <a:ext cx="6336704" cy="18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67744" y="2223914"/>
            <a:ext cx="496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0" dirty="0" smtClean="0">
                <a:latin typeface="+mn-ea"/>
                <a:ea typeface="+mn-ea"/>
              </a:rPr>
              <a:t>m	</a:t>
            </a:r>
            <a:r>
              <a:rPr lang="ko-KR" altLang="en-US" sz="1500" b="0" dirty="0" smtClean="0">
                <a:latin typeface="+mn-ea"/>
                <a:ea typeface="+mn-ea"/>
              </a:rPr>
              <a:t>법</a:t>
            </a:r>
            <a:r>
              <a:rPr lang="en-US" altLang="ko-KR" sz="1500" b="0" dirty="0" smtClean="0">
                <a:latin typeface="+mn-ea"/>
                <a:ea typeface="+mn-ea"/>
              </a:rPr>
              <a:t>(modulus)		m&gt;0</a:t>
            </a:r>
          </a:p>
          <a:p>
            <a:r>
              <a:rPr lang="en-US" altLang="ko-KR" sz="1500" b="0" dirty="0" smtClean="0">
                <a:latin typeface="+mn-ea"/>
                <a:ea typeface="+mn-ea"/>
              </a:rPr>
              <a:t>a	</a:t>
            </a:r>
            <a:r>
              <a:rPr lang="ko-KR" altLang="en-US" sz="1500" b="0" dirty="0" smtClean="0">
                <a:latin typeface="+mn-ea"/>
                <a:ea typeface="+mn-ea"/>
              </a:rPr>
              <a:t>승수</a:t>
            </a:r>
            <a:r>
              <a:rPr lang="en-US" altLang="ko-KR" sz="1500" b="0" dirty="0" smtClean="0">
                <a:latin typeface="+mn-ea"/>
                <a:ea typeface="+mn-ea"/>
              </a:rPr>
              <a:t>(multiplier)		0&lt;a&lt;m</a:t>
            </a:r>
          </a:p>
          <a:p>
            <a:r>
              <a:rPr lang="en-US" altLang="ko-KR" sz="1500" b="0" dirty="0" smtClean="0">
                <a:latin typeface="+mn-ea"/>
                <a:ea typeface="+mn-ea"/>
              </a:rPr>
              <a:t>c	</a:t>
            </a:r>
            <a:r>
              <a:rPr lang="ko-KR" altLang="en-US" sz="1500" b="0" dirty="0" err="1" smtClean="0">
                <a:latin typeface="+mn-ea"/>
                <a:ea typeface="+mn-ea"/>
              </a:rPr>
              <a:t>증분</a:t>
            </a:r>
            <a:r>
              <a:rPr lang="en-US" altLang="ko-KR" sz="1500" b="0" dirty="0" smtClean="0">
                <a:latin typeface="+mn-ea"/>
                <a:ea typeface="+mn-ea"/>
              </a:rPr>
              <a:t>(increment)		0≤c&lt;m</a:t>
            </a:r>
          </a:p>
          <a:p>
            <a:r>
              <a:rPr lang="en-US" altLang="ko-KR" sz="1500" b="0" dirty="0" smtClean="0">
                <a:latin typeface="+mn-ea"/>
                <a:ea typeface="+mn-ea"/>
              </a:rPr>
              <a:t>X</a:t>
            </a:r>
            <a:r>
              <a:rPr lang="en-US" altLang="ko-KR" sz="1500" b="0" baseline="-25000" dirty="0" smtClean="0">
                <a:latin typeface="+mn-ea"/>
                <a:ea typeface="+mn-ea"/>
              </a:rPr>
              <a:t>0</a:t>
            </a:r>
            <a:r>
              <a:rPr lang="en-US" altLang="ko-KR" sz="1500" b="0" dirty="0" smtClean="0">
                <a:latin typeface="+mn-ea"/>
                <a:ea typeface="+mn-ea"/>
              </a:rPr>
              <a:t>	</a:t>
            </a:r>
            <a:r>
              <a:rPr lang="ko-KR" altLang="en-US" sz="1500" b="0" dirty="0" smtClean="0">
                <a:latin typeface="+mn-ea"/>
                <a:ea typeface="+mn-ea"/>
              </a:rPr>
              <a:t>초기치 혹은 </a:t>
            </a:r>
            <a:r>
              <a:rPr lang="en-US" altLang="ko-KR" sz="1500" b="0" dirty="0" smtClean="0">
                <a:latin typeface="+mn-ea"/>
                <a:ea typeface="+mn-ea"/>
              </a:rPr>
              <a:t>seed		0≤X</a:t>
            </a:r>
            <a:r>
              <a:rPr lang="en-US" altLang="ko-KR" sz="1500" b="0" baseline="-25000" dirty="0" smtClean="0">
                <a:latin typeface="+mn-ea"/>
                <a:ea typeface="+mn-ea"/>
              </a:rPr>
              <a:t>0</a:t>
            </a:r>
            <a:r>
              <a:rPr lang="en-US" altLang="ko-KR" sz="1500" b="0" dirty="0" smtClean="0">
                <a:latin typeface="+mn-ea"/>
                <a:ea typeface="+mn-ea"/>
              </a:rPr>
              <a:t>&lt;m</a:t>
            </a:r>
            <a:endParaRPr lang="ko-KR" altLang="en-US" sz="1500" b="0" dirty="0"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83768" y="3429000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0" i="1" dirty="0" smtClean="0">
                <a:latin typeface="+mn-ea"/>
                <a:ea typeface="+mn-ea"/>
              </a:rPr>
              <a:t>X</a:t>
            </a:r>
            <a:r>
              <a:rPr lang="en-US" altLang="ko-KR" b="0" i="1" baseline="-25000" dirty="0" smtClean="0">
                <a:latin typeface="+mn-ea"/>
                <a:ea typeface="+mn-ea"/>
              </a:rPr>
              <a:t>n+1 </a:t>
            </a:r>
            <a:r>
              <a:rPr lang="en-US" altLang="ko-KR" b="0" i="1" dirty="0" smtClean="0">
                <a:latin typeface="+mn-ea"/>
                <a:ea typeface="+mn-ea"/>
              </a:rPr>
              <a:t>= (</a:t>
            </a:r>
            <a:r>
              <a:rPr lang="en-US" altLang="ko-KR" b="0" i="1" dirty="0" err="1" smtClean="0">
                <a:latin typeface="+mn-ea"/>
                <a:ea typeface="+mn-ea"/>
              </a:rPr>
              <a:t>aX</a:t>
            </a:r>
            <a:r>
              <a:rPr lang="en-US" altLang="ko-KR" b="0" i="1" baseline="-25000" dirty="0" err="1" smtClean="0">
                <a:latin typeface="+mn-ea"/>
                <a:ea typeface="+mn-ea"/>
              </a:rPr>
              <a:t>n</a:t>
            </a:r>
            <a:r>
              <a:rPr lang="en-US" altLang="ko-KR" b="0" i="1" dirty="0" err="1" smtClean="0">
                <a:latin typeface="+mn-ea"/>
                <a:ea typeface="+mn-ea"/>
              </a:rPr>
              <a:t>+c</a:t>
            </a:r>
            <a:r>
              <a:rPr lang="en-US" altLang="ko-KR" b="0" i="1" dirty="0" smtClean="0">
                <a:latin typeface="+mn-ea"/>
                <a:ea typeface="+mn-ea"/>
              </a:rPr>
              <a:t>)mod m</a:t>
            </a:r>
            <a:endParaRPr lang="ko-KR" altLang="en-US" b="0" i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7.2 </a:t>
            </a:r>
            <a:r>
              <a:rPr lang="ko-KR" altLang="en-US" dirty="0" smtClean="0"/>
              <a:t>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생성된 수의 노출 가능성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공격자가 선형 합동 알고리즘 사용과 </a:t>
            </a:r>
            <a:r>
              <a:rPr lang="ko-KR" altLang="en-US" dirty="0" err="1" smtClean="0"/>
              <a:t>파라미터를</a:t>
            </a:r>
            <a:r>
              <a:rPr lang="ko-KR" altLang="en-US" dirty="0" smtClean="0"/>
              <a:t> 알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알고리즘에 의해 생성된 수를 하나만 알아도 나머지 수를 모두 알 수 있게 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선형 합동 알고리즘의 사용 여부를 안다면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생성된 수의 순서만으로도 </a:t>
            </a:r>
            <a:r>
              <a:rPr lang="ko-KR" altLang="en-US" dirty="0" err="1" smtClean="0"/>
              <a:t>파라미터를</a:t>
            </a:r>
            <a:r>
              <a:rPr lang="ko-KR" altLang="en-US" dirty="0" smtClean="0"/>
              <a:t> 알아낼 수 있음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해결방법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내부 시스템 </a:t>
            </a:r>
            <a:r>
              <a:rPr lang="ko-KR" altLang="en-US" dirty="0" err="1" smtClean="0"/>
              <a:t>클럭사용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매번 현재의 </a:t>
            </a:r>
            <a:r>
              <a:rPr lang="ko-KR" altLang="en-US" dirty="0" err="1" smtClean="0"/>
              <a:t>클럭</a:t>
            </a:r>
            <a:r>
              <a:rPr lang="ko-KR" altLang="en-US" dirty="0" smtClean="0"/>
              <a:t> 값 </a:t>
            </a:r>
            <a:r>
              <a:rPr lang="en-US" altLang="ko-KR" dirty="0" smtClean="0"/>
              <a:t>mod m </a:t>
            </a:r>
            <a:r>
              <a:rPr lang="ko-KR" altLang="en-US" dirty="0" smtClean="0"/>
              <a:t>을 새로운 </a:t>
            </a:r>
            <a:r>
              <a:rPr lang="en-US" altLang="ko-KR" dirty="0" smtClean="0"/>
              <a:t>seed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하여 생성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현재 </a:t>
            </a:r>
            <a:r>
              <a:rPr lang="ko-KR" altLang="en-US" dirty="0" err="1" smtClean="0"/>
              <a:t>클럭</a:t>
            </a:r>
            <a:r>
              <a:rPr lang="ko-KR" altLang="en-US" dirty="0" smtClean="0"/>
              <a:t> 값을 </a:t>
            </a:r>
            <a:r>
              <a:rPr lang="ko-KR" altLang="en-US" dirty="0" err="1" smtClean="0"/>
              <a:t>난수에</a:t>
            </a:r>
            <a:r>
              <a:rPr lang="ko-KR" altLang="en-US" dirty="0" smtClean="0"/>
              <a:t> 더하여 </a:t>
            </a:r>
            <a:r>
              <a:rPr lang="en-US" altLang="ko-KR" dirty="0" smtClean="0"/>
              <a:t>mod m</a:t>
            </a:r>
            <a:r>
              <a:rPr lang="ko-KR" altLang="en-US" dirty="0" smtClean="0"/>
              <a:t>의 값을 사용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7.2 </a:t>
            </a:r>
            <a:r>
              <a:rPr lang="ko-KR" altLang="en-US" dirty="0" smtClean="0"/>
              <a:t>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Blum </a:t>
            </a:r>
            <a:r>
              <a:rPr lang="en-US" altLang="ko-KR" dirty="0" err="1" smtClean="0"/>
              <a:t>Blum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Shub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생성기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개발자들의 이름에서 유래 </a:t>
            </a:r>
            <a:r>
              <a:rPr lang="en-US" altLang="ko-KR" dirty="0" smtClean="0"/>
              <a:t>[BLUM86]</a:t>
            </a:r>
          </a:p>
          <a:p>
            <a:pPr lvl="1"/>
            <a:r>
              <a:rPr lang="ko-KR" altLang="en-US" dirty="0" smtClean="0"/>
              <a:t>어떠한 특정 목적의 알고리즘에서도 암호학적 강도를 증명하는 가장 강력하게 통용되는 수단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암호학적으로 안전한 </a:t>
            </a:r>
            <a:r>
              <a:rPr lang="ko-KR" altLang="en-US" dirty="0" err="1" smtClean="0"/>
              <a:t>의사난수</a:t>
            </a:r>
            <a:r>
              <a:rPr lang="ko-KR" altLang="en-US" dirty="0" smtClean="0"/>
              <a:t> 비트 </a:t>
            </a:r>
            <a:r>
              <a:rPr lang="ko-KR" altLang="en-US" dirty="0" err="1" smtClean="0"/>
              <a:t>생성기로</a:t>
            </a:r>
            <a:r>
              <a:rPr lang="ko-KR" altLang="en-US" dirty="0" smtClean="0"/>
              <a:t> 불림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CSPRBG : Cryptographically Secure Pseudo Random Bit Generator</a:t>
            </a:r>
          </a:p>
          <a:p>
            <a:pPr lvl="1"/>
            <a:r>
              <a:rPr lang="en-US" altLang="ko-KR" dirty="0" smtClean="0"/>
              <a:t>n</a:t>
            </a:r>
            <a:r>
              <a:rPr lang="ko-KR" altLang="en-US" dirty="0" smtClean="0"/>
              <a:t>의 소인수 분해 문제에 대한 어려움에 기반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n</a:t>
            </a:r>
            <a:r>
              <a:rPr lang="ko-KR" altLang="en-US" dirty="0" smtClean="0"/>
              <a:t>이 주어졌을 때</a:t>
            </a:r>
            <a:r>
              <a:rPr lang="en-US" altLang="ko-KR" dirty="0" smtClean="0"/>
              <a:t>, n</a:t>
            </a:r>
            <a:r>
              <a:rPr lang="ko-KR" altLang="en-US" dirty="0" smtClean="0"/>
              <a:t>의 두 소수 인수 </a:t>
            </a:r>
            <a:r>
              <a:rPr lang="en-US" altLang="ko-KR" dirty="0" smtClean="0"/>
              <a:t>p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q</a:t>
            </a:r>
            <a:r>
              <a:rPr lang="ko-KR" altLang="en-US" dirty="0" smtClean="0"/>
              <a:t>를 알아야 함</a:t>
            </a:r>
            <a:endParaRPr lang="en-US" altLang="ko-KR" dirty="0" smtClean="0"/>
          </a:p>
          <a:p>
            <a:pPr lvl="2"/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475656" y="4077072"/>
            <a:ext cx="6336704" cy="18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19672" y="4473987"/>
            <a:ext cx="2520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0" i="1" dirty="0" smtClean="0">
                <a:latin typeface="+mn-ea"/>
                <a:ea typeface="+mn-ea"/>
              </a:rPr>
              <a:t>p ≡ q</a:t>
            </a:r>
            <a:r>
              <a:rPr lang="en-US" altLang="ko-KR" sz="1500" b="0" i="1" dirty="0" smtClean="0">
                <a:latin typeface="+mn-ea"/>
              </a:rPr>
              <a:t> ≡ 3(mod 4)</a:t>
            </a:r>
            <a:endParaRPr lang="ko-KR" altLang="en-US" sz="1500" b="0" i="1" dirty="0">
              <a:latin typeface="+mn-ea"/>
              <a:ea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9632" y="4834027"/>
            <a:ext cx="2520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0" i="1" dirty="0" smtClean="0">
                <a:latin typeface="+mn-ea"/>
                <a:ea typeface="+mn-ea"/>
              </a:rPr>
              <a:t>n = p × q</a:t>
            </a:r>
            <a:endParaRPr lang="ko-KR" altLang="en-US" sz="1500" b="0" i="1" dirty="0"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07704" y="5194067"/>
            <a:ext cx="2520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0" i="1" dirty="0" err="1" smtClean="0">
                <a:latin typeface="+mn-ea"/>
                <a:ea typeface="+mn-ea"/>
              </a:rPr>
              <a:t>gcd</a:t>
            </a:r>
            <a:r>
              <a:rPr lang="en-US" altLang="ko-KR" sz="1500" b="0" i="1" dirty="0" smtClean="0">
                <a:latin typeface="+mn-ea"/>
                <a:ea typeface="+mn-ea"/>
              </a:rPr>
              <a:t>(n, s)=1, s</a:t>
            </a:r>
            <a:r>
              <a:rPr lang="ko-KR" altLang="en-US" sz="1500" b="0" i="1" dirty="0" smtClean="0">
                <a:latin typeface="+mn-ea"/>
                <a:ea typeface="+mn-ea"/>
              </a:rPr>
              <a:t>선정</a:t>
            </a:r>
            <a:r>
              <a:rPr lang="en-US" altLang="ko-KR" sz="1500" b="0" i="1" dirty="0" smtClean="0">
                <a:latin typeface="+mn-ea"/>
                <a:ea typeface="+mn-ea"/>
              </a:rPr>
              <a:t>(</a:t>
            </a:r>
            <a:r>
              <a:rPr lang="ko-KR" altLang="en-US" sz="1500" b="0" i="1" dirty="0" err="1" smtClean="0">
                <a:latin typeface="+mn-ea"/>
                <a:ea typeface="+mn-ea"/>
              </a:rPr>
              <a:t>서로소</a:t>
            </a:r>
            <a:r>
              <a:rPr lang="en-US" altLang="ko-KR" sz="1500" b="0" i="1" dirty="0" smtClean="0">
                <a:latin typeface="+mn-ea"/>
                <a:ea typeface="+mn-ea"/>
              </a:rPr>
              <a:t>)</a:t>
            </a:r>
            <a:endParaRPr lang="ko-KR" altLang="en-US" sz="1500" b="0" i="1" dirty="0">
              <a:latin typeface="+mn-ea"/>
              <a:ea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36096" y="4293096"/>
            <a:ext cx="20882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0" dirty="0" smtClean="0">
                <a:latin typeface="+mn-ea"/>
                <a:ea typeface="+mn-ea"/>
              </a:rPr>
              <a:t>X</a:t>
            </a:r>
            <a:r>
              <a:rPr lang="en-US" altLang="ko-KR" sz="1300" b="0" baseline="-25000" dirty="0" smtClean="0">
                <a:latin typeface="+mn-ea"/>
                <a:ea typeface="+mn-ea"/>
              </a:rPr>
              <a:t>0</a:t>
            </a:r>
            <a:r>
              <a:rPr lang="en-US" altLang="ko-KR" sz="1300" b="0" dirty="0" smtClean="0">
                <a:latin typeface="+mn-ea"/>
                <a:ea typeface="+mn-ea"/>
              </a:rPr>
              <a:t>    = S</a:t>
            </a:r>
            <a:r>
              <a:rPr lang="en-US" altLang="ko-KR" sz="1300" b="0" baseline="30000" dirty="0" smtClean="0">
                <a:latin typeface="+mn-ea"/>
                <a:ea typeface="+mn-ea"/>
              </a:rPr>
              <a:t>2</a:t>
            </a:r>
            <a:r>
              <a:rPr lang="en-US" altLang="ko-KR" sz="1300" b="0" dirty="0" smtClean="0">
                <a:latin typeface="+mn-ea"/>
                <a:ea typeface="+mn-ea"/>
              </a:rPr>
              <a:t> mod n</a:t>
            </a:r>
          </a:p>
          <a:p>
            <a:pPr>
              <a:lnSpc>
                <a:spcPct val="150000"/>
              </a:lnSpc>
            </a:pPr>
            <a:r>
              <a:rPr lang="en-US" altLang="ko-KR" sz="1300" dirty="0" smtClean="0">
                <a:latin typeface="+mn-ea"/>
                <a:ea typeface="+mn-ea"/>
              </a:rPr>
              <a:t>for </a:t>
            </a:r>
            <a:r>
              <a:rPr lang="en-US" altLang="ko-KR" sz="1300" b="0" dirty="0" err="1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 = 1 to </a:t>
            </a:r>
            <a:r>
              <a:rPr lang="ko-KR" altLang="en-US" sz="1300" b="0" dirty="0" smtClean="0">
                <a:latin typeface="+mn-ea"/>
                <a:ea typeface="+mn-ea"/>
              </a:rPr>
              <a:t>∞</a:t>
            </a:r>
            <a:endParaRPr lang="en-US" altLang="ko-KR" sz="1300" b="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300" b="0" dirty="0" smtClean="0">
                <a:latin typeface="+mn-ea"/>
                <a:ea typeface="+mn-ea"/>
              </a:rPr>
              <a:t>X</a:t>
            </a:r>
            <a:r>
              <a:rPr lang="en-US" altLang="ko-KR" sz="1300" b="0" baseline="-25000" dirty="0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     = (X</a:t>
            </a:r>
            <a:r>
              <a:rPr lang="en-US" altLang="ko-KR" sz="1300" b="0" baseline="-25000" dirty="0" smtClean="0">
                <a:latin typeface="+mn-ea"/>
                <a:ea typeface="+mn-ea"/>
              </a:rPr>
              <a:t>i-1</a:t>
            </a:r>
            <a:r>
              <a:rPr lang="en-US" altLang="ko-KR" sz="1300" b="0" dirty="0" smtClean="0">
                <a:latin typeface="+mn-ea"/>
                <a:ea typeface="+mn-ea"/>
              </a:rPr>
              <a:t>)</a:t>
            </a:r>
            <a:r>
              <a:rPr lang="en-US" altLang="ko-KR" sz="1300" b="0" baseline="30000" dirty="0" smtClean="0">
                <a:latin typeface="+mn-ea"/>
                <a:ea typeface="+mn-ea"/>
              </a:rPr>
              <a:t>2</a:t>
            </a:r>
            <a:r>
              <a:rPr lang="en-US" altLang="ko-KR" sz="1300" b="0" dirty="0" smtClean="0">
                <a:latin typeface="+mn-ea"/>
                <a:ea typeface="+mn-ea"/>
              </a:rPr>
              <a:t> mod n</a:t>
            </a:r>
          </a:p>
          <a:p>
            <a:pPr>
              <a:lnSpc>
                <a:spcPct val="150000"/>
              </a:lnSpc>
            </a:pPr>
            <a:r>
              <a:rPr lang="en-US" altLang="ko-KR" sz="1300" b="0" dirty="0" smtClean="0">
                <a:latin typeface="+mn-ea"/>
                <a:ea typeface="+mn-ea"/>
              </a:rPr>
              <a:t>B</a:t>
            </a:r>
            <a:r>
              <a:rPr lang="en-US" altLang="ko-KR" sz="1300" b="0" baseline="-25000" dirty="0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     = X</a:t>
            </a:r>
            <a:r>
              <a:rPr lang="en-US" altLang="ko-KR" sz="1300" b="0" baseline="-25000" dirty="0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 mod 2</a:t>
            </a:r>
            <a:endParaRPr lang="ko-KR" altLang="en-US" sz="13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7.2 </a:t>
            </a:r>
            <a:r>
              <a:rPr lang="ko-KR" altLang="en-US" dirty="0" smtClean="0"/>
              <a:t>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BBS </a:t>
            </a:r>
            <a:r>
              <a:rPr lang="ko-KR" altLang="en-US" dirty="0" err="1" smtClean="0"/>
              <a:t>생성기의</a:t>
            </a:r>
            <a:r>
              <a:rPr lang="ko-KR" altLang="en-US" dirty="0" smtClean="0"/>
              <a:t> 연산 예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n = 192648 = 383 × 503</a:t>
            </a:r>
          </a:p>
          <a:p>
            <a:pPr lvl="2"/>
            <a:r>
              <a:rPr lang="en-US" altLang="ko-KR" dirty="0" smtClean="0"/>
              <a:t>seed s = 101355</a:t>
            </a:r>
            <a:endParaRPr lang="ko-KR" altLang="en-US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899592" y="1988840"/>
          <a:ext cx="3384375" cy="3528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125"/>
                <a:gridCol w="1128125"/>
                <a:gridCol w="1128125"/>
              </a:tblGrid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/>
                        <a:t>i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X</a:t>
                      </a:r>
                      <a:r>
                        <a:rPr lang="en-US" altLang="ko-KR" sz="1000" baseline="-25000" dirty="0" smtClean="0"/>
                        <a:t>i</a:t>
                      </a:r>
                      <a:endParaRPr lang="ko-KR" altLang="en-US" sz="1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B</a:t>
                      </a:r>
                      <a:r>
                        <a:rPr lang="en-US" altLang="ko-KR" sz="1000" baseline="-25000" dirty="0" smtClean="0"/>
                        <a:t>i</a:t>
                      </a:r>
                      <a:endParaRPr lang="ko-KR" altLang="en-US" sz="1000" baseline="-25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20749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143135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177671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97048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89992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174051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80649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45663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69442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186894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177046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4644008" y="1988840"/>
          <a:ext cx="3384375" cy="3234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125"/>
                <a:gridCol w="1128125"/>
                <a:gridCol w="1128125"/>
              </a:tblGrid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I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X</a:t>
                      </a:r>
                      <a:r>
                        <a:rPr lang="en-US" altLang="ko-KR" sz="1000" baseline="-25000" dirty="0" smtClean="0"/>
                        <a:t>i</a:t>
                      </a:r>
                      <a:endParaRPr lang="ko-KR" altLang="en-US" sz="1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B</a:t>
                      </a:r>
                      <a:r>
                        <a:rPr lang="en-US" altLang="ko-KR" sz="1000" baseline="-25000" dirty="0" smtClean="0"/>
                        <a:t>i</a:t>
                      </a:r>
                      <a:endParaRPr lang="ko-KR" altLang="en-US" sz="1000" baseline="-25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137922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123175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8630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114386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14863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133015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106065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45870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137171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294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20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48060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7.3 </a:t>
            </a:r>
            <a:r>
              <a:rPr lang="ko-KR" altLang="en-US" dirty="0" smtClean="0"/>
              <a:t>블록 암호를 사용한 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PRNG </a:t>
            </a:r>
            <a:r>
              <a:rPr lang="ko-KR" altLang="en-US" dirty="0" smtClean="0"/>
              <a:t>구축방법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대칭 </a:t>
            </a:r>
            <a:r>
              <a:rPr lang="ko-KR" altLang="en-US" dirty="0" err="1" smtClean="0"/>
              <a:t>블럭암호를</a:t>
            </a:r>
            <a:r>
              <a:rPr lang="ko-KR" altLang="en-US" dirty="0" smtClean="0"/>
              <a:t> </a:t>
            </a:r>
            <a:r>
              <a:rPr lang="en-US" altLang="ko-KR" dirty="0" smtClean="0"/>
              <a:t>PRNG </a:t>
            </a:r>
            <a:r>
              <a:rPr lang="ko-KR" altLang="en-US" dirty="0" err="1" smtClean="0"/>
              <a:t>매커니즘의</a:t>
            </a:r>
            <a:r>
              <a:rPr lang="ko-KR" altLang="en-US" dirty="0" smtClean="0"/>
              <a:t> 핵심으로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어떤 </a:t>
            </a:r>
            <a:r>
              <a:rPr lang="ko-KR" altLang="en-US" dirty="0" err="1" smtClean="0"/>
              <a:t>평문</a:t>
            </a:r>
            <a:r>
              <a:rPr lang="ko-KR" altLang="en-US" dirty="0" smtClean="0"/>
              <a:t> 블록에 대해서도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대칭 블록 암호는 확실히 </a:t>
            </a:r>
            <a:r>
              <a:rPr lang="ko-KR" altLang="en-US" dirty="0" err="1" smtClean="0"/>
              <a:t>랜덤한</a:t>
            </a:r>
            <a:r>
              <a:rPr lang="ko-KR" altLang="en-US" dirty="0" smtClean="0"/>
              <a:t> 출력 블록을 생산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암호문에는 </a:t>
            </a:r>
            <a:r>
              <a:rPr lang="ko-KR" altLang="en-US" dirty="0" err="1" smtClean="0"/>
              <a:t>평문을</a:t>
            </a:r>
            <a:r>
              <a:rPr lang="ko-KR" altLang="en-US" dirty="0" smtClean="0"/>
              <a:t> 추론하도록 하는 정보를 제공하는 패턴이나 규칙이 없음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7.3 </a:t>
            </a:r>
            <a:r>
              <a:rPr lang="ko-KR" altLang="en-US" dirty="0" smtClean="0"/>
              <a:t>블록 암호를 사용한 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블록 암호 운용 모드를 이용한 </a:t>
            </a:r>
            <a:r>
              <a:rPr lang="en-US" altLang="ko-KR" dirty="0" smtClean="0"/>
              <a:t>PRNG</a:t>
            </a:r>
          </a:p>
          <a:p>
            <a:pPr lvl="1"/>
            <a:r>
              <a:rPr lang="en-US" altLang="ko-KR" dirty="0" smtClean="0"/>
              <a:t>CTR</a:t>
            </a:r>
            <a:r>
              <a:rPr lang="ko-KR" altLang="en-US" dirty="0" smtClean="0"/>
              <a:t>모드 </a:t>
            </a:r>
            <a:r>
              <a:rPr lang="en-US" altLang="ko-KR" dirty="0" smtClean="0"/>
              <a:t>: SP800-90, ANSI </a:t>
            </a:r>
            <a:r>
              <a:rPr lang="ko-KR" altLang="en-US" dirty="0" smtClean="0"/>
              <a:t>표준 </a:t>
            </a:r>
            <a:r>
              <a:rPr lang="en-US" altLang="ko-KR" dirty="0" smtClean="0"/>
              <a:t>X9.82(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</a:t>
            </a:r>
            <a:r>
              <a:rPr lang="en-US" altLang="ko-KR" dirty="0" smtClean="0"/>
              <a:t>), RFC4086</a:t>
            </a:r>
          </a:p>
          <a:p>
            <a:pPr lvl="1"/>
            <a:r>
              <a:rPr lang="en-US" altLang="ko-KR" dirty="0" smtClean="0"/>
              <a:t>OFB</a:t>
            </a:r>
            <a:r>
              <a:rPr lang="ko-KR" altLang="en-US" dirty="0" smtClean="0"/>
              <a:t>모드 </a:t>
            </a:r>
            <a:r>
              <a:rPr lang="en-US" altLang="ko-KR" dirty="0" smtClean="0"/>
              <a:t>: X9.82, RFC4086</a:t>
            </a:r>
          </a:p>
          <a:p>
            <a:pPr lvl="1"/>
            <a:endParaRPr lang="ko-KR" altLang="en-US" dirty="0"/>
          </a:p>
        </p:txBody>
      </p:sp>
      <p:grpSp>
        <p:nvGrpSpPr>
          <p:cNvPr id="44" name="그룹 43"/>
          <p:cNvGrpSpPr/>
          <p:nvPr/>
        </p:nvGrpSpPr>
        <p:grpSpPr>
          <a:xfrm>
            <a:off x="1382907" y="1958990"/>
            <a:ext cx="2252989" cy="2578915"/>
            <a:chOff x="1958971" y="2741205"/>
            <a:chExt cx="2252989" cy="2578915"/>
          </a:xfrm>
        </p:grpSpPr>
        <p:sp>
          <p:nvSpPr>
            <p:cNvPr id="6" name="직사각형 5"/>
            <p:cNvSpPr/>
            <p:nvPr/>
          </p:nvSpPr>
          <p:spPr bwMode="auto">
            <a:xfrm>
              <a:off x="2987824" y="3284983"/>
              <a:ext cx="792088" cy="36004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3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V</a:t>
              </a:r>
              <a:endParaRPr kumimoji="1" lang="ko-KR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7" name="직사각형 6"/>
            <p:cNvSpPr/>
            <p:nvPr/>
          </p:nvSpPr>
          <p:spPr bwMode="auto">
            <a:xfrm>
              <a:off x="2843808" y="3995191"/>
              <a:ext cx="1080120" cy="83074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3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Encrypt</a:t>
              </a:r>
              <a:endParaRPr kumimoji="1" lang="ko-KR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cxnSp>
          <p:nvCxnSpPr>
            <p:cNvPr id="10" name="직선 화살표 연결선 9"/>
            <p:cNvCxnSpPr>
              <a:stCxn id="6" idx="2"/>
              <a:endCxn id="7" idx="0"/>
            </p:cNvCxnSpPr>
            <p:nvPr/>
          </p:nvCxnSpPr>
          <p:spPr bwMode="auto">
            <a:xfrm rot="5400000">
              <a:off x="3208785" y="3820107"/>
              <a:ext cx="350167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2" name="직선 화살표 연결선 11"/>
            <p:cNvCxnSpPr/>
            <p:nvPr/>
          </p:nvCxnSpPr>
          <p:spPr bwMode="auto">
            <a:xfrm rot="16200000" flipH="1">
              <a:off x="3277147" y="4975597"/>
              <a:ext cx="213298" cy="14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3" name="TextBox 12"/>
            <p:cNvSpPr txBox="1"/>
            <p:nvPr/>
          </p:nvSpPr>
          <p:spPr bwMode="auto">
            <a:xfrm>
              <a:off x="2561102" y="5073899"/>
              <a:ext cx="16508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Pseudorandom b</a:t>
              </a:r>
              <a:r>
                <a:rPr kumimoji="0" lang="en-US" altLang="ko-KR" sz="1000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its</a:t>
              </a:r>
              <a:endParaRPr kumimoji="0" lang="ko-KR" altLang="en-US" sz="10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2151750" y="3318891"/>
              <a:ext cx="360040" cy="28803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+</a:t>
              </a:r>
              <a:endParaRPr kumimoji="1" lang="ko-KR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cxnSp>
          <p:nvCxnSpPr>
            <p:cNvPr id="34" name="직선 화살표 연결선 33"/>
            <p:cNvCxnSpPr/>
            <p:nvPr/>
          </p:nvCxnSpPr>
          <p:spPr bwMode="auto">
            <a:xfrm rot="5400000">
              <a:off x="2162805" y="3153158"/>
              <a:ext cx="33146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6" name="TextBox 35"/>
            <p:cNvSpPr txBox="1"/>
            <p:nvPr/>
          </p:nvSpPr>
          <p:spPr bwMode="auto">
            <a:xfrm>
              <a:off x="1958971" y="2741205"/>
              <a:ext cx="7200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1</a:t>
              </a:r>
              <a:endParaRPr kumimoji="0" lang="ko-KR" altLang="en-US" sz="10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38" name="직선 화살표 연결선 37"/>
            <p:cNvCxnSpPr>
              <a:stCxn id="26" idx="3"/>
              <a:endCxn id="6" idx="1"/>
            </p:cNvCxnSpPr>
            <p:nvPr/>
          </p:nvCxnSpPr>
          <p:spPr bwMode="auto">
            <a:xfrm>
              <a:off x="2511790" y="3462907"/>
              <a:ext cx="476034" cy="209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" name="Shape 39"/>
            <p:cNvCxnSpPr>
              <a:endCxn id="26" idx="2"/>
            </p:cNvCxnSpPr>
            <p:nvPr/>
          </p:nvCxnSpPr>
          <p:spPr bwMode="auto">
            <a:xfrm rot="10800000">
              <a:off x="2331770" y="3606923"/>
              <a:ext cx="1016094" cy="244252"/>
            </a:xfrm>
            <a:prstGeom prst="bent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2" name="직선 화살표 연결선 41"/>
            <p:cNvCxnSpPr/>
            <p:nvPr/>
          </p:nvCxnSpPr>
          <p:spPr bwMode="auto">
            <a:xfrm>
              <a:off x="2555776" y="4408178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3" name="TextBox 42"/>
            <p:cNvSpPr txBox="1"/>
            <p:nvPr/>
          </p:nvSpPr>
          <p:spPr bwMode="auto">
            <a:xfrm>
              <a:off x="2099913" y="4282158"/>
              <a:ext cx="7200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K</a:t>
              </a:r>
              <a:endParaRPr kumimoji="0" lang="ko-KR" altLang="en-US" sz="10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5724128" y="2204864"/>
            <a:ext cx="2112047" cy="2222376"/>
            <a:chOff x="2099913" y="3284983"/>
            <a:chExt cx="2112047" cy="2222376"/>
          </a:xfrm>
        </p:grpSpPr>
        <p:sp>
          <p:nvSpPr>
            <p:cNvPr id="46" name="직사각형 45"/>
            <p:cNvSpPr/>
            <p:nvPr/>
          </p:nvSpPr>
          <p:spPr bwMode="auto">
            <a:xfrm>
              <a:off x="2987824" y="3284983"/>
              <a:ext cx="792088" cy="36004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3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V</a:t>
              </a:r>
              <a:endParaRPr kumimoji="1" lang="ko-KR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47" name="직사각형 46"/>
            <p:cNvSpPr/>
            <p:nvPr/>
          </p:nvSpPr>
          <p:spPr bwMode="auto">
            <a:xfrm>
              <a:off x="2843808" y="3965341"/>
              <a:ext cx="1080120" cy="83074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3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Encrypt</a:t>
              </a:r>
              <a:endParaRPr kumimoji="1" lang="ko-KR" altLang="en-US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cxnSp>
          <p:nvCxnSpPr>
            <p:cNvPr id="48" name="직선 화살표 연결선 47"/>
            <p:cNvCxnSpPr>
              <a:stCxn id="46" idx="2"/>
              <a:endCxn id="47" idx="0"/>
            </p:cNvCxnSpPr>
            <p:nvPr/>
          </p:nvCxnSpPr>
          <p:spPr bwMode="auto">
            <a:xfrm rot="5400000">
              <a:off x="3223710" y="3805182"/>
              <a:ext cx="320317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9" name="직선 화살표 연결선 48"/>
            <p:cNvCxnSpPr>
              <a:stCxn id="47" idx="2"/>
            </p:cNvCxnSpPr>
            <p:nvPr/>
          </p:nvCxnSpPr>
          <p:spPr bwMode="auto">
            <a:xfrm rot="5400000">
              <a:off x="3147133" y="5032822"/>
              <a:ext cx="47347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0" name="TextBox 49"/>
            <p:cNvSpPr txBox="1"/>
            <p:nvPr/>
          </p:nvSpPr>
          <p:spPr bwMode="auto">
            <a:xfrm>
              <a:off x="2561102" y="5261138"/>
              <a:ext cx="16508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Pseudorandom b</a:t>
              </a:r>
              <a:r>
                <a:rPr kumimoji="0" lang="en-US" altLang="ko-KR" sz="1000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its</a:t>
              </a:r>
              <a:endParaRPr kumimoji="0" lang="ko-KR" altLang="en-US" sz="10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56" name="직선 화살표 연결선 55"/>
            <p:cNvCxnSpPr/>
            <p:nvPr/>
          </p:nvCxnSpPr>
          <p:spPr bwMode="auto">
            <a:xfrm>
              <a:off x="2555776" y="4378328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7" name="TextBox 56"/>
            <p:cNvSpPr txBox="1"/>
            <p:nvPr/>
          </p:nvSpPr>
          <p:spPr bwMode="auto">
            <a:xfrm>
              <a:off x="2099913" y="4252308"/>
              <a:ext cx="7200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K</a:t>
              </a:r>
              <a:endParaRPr kumimoji="0" lang="ko-KR" altLang="en-US" sz="10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60" name="Shape 59"/>
          <p:cNvCxnSpPr/>
          <p:nvPr/>
        </p:nvCxnSpPr>
        <p:spPr bwMode="auto">
          <a:xfrm rot="16200000" flipV="1">
            <a:off x="6008415" y="2969460"/>
            <a:ext cx="1580457" cy="411307"/>
          </a:xfrm>
          <a:prstGeom prst="bentConnector4">
            <a:avLst>
              <a:gd name="adj1" fmla="val 913"/>
              <a:gd name="adj2" fmla="val 27136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3" name="모서리가 둥근 직사각형 62"/>
          <p:cNvSpPr/>
          <p:nvPr/>
        </p:nvSpPr>
        <p:spPr bwMode="auto">
          <a:xfrm>
            <a:off x="251520" y="4581128"/>
            <a:ext cx="3744416" cy="18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48494" y="4941867"/>
            <a:ext cx="34563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latin typeface="+mn-ea"/>
                <a:ea typeface="+mn-ea"/>
              </a:rPr>
              <a:t>while</a:t>
            </a:r>
            <a:r>
              <a:rPr lang="en-US" altLang="ko-KR" sz="1100" b="0" dirty="0" smtClean="0">
                <a:latin typeface="+mn-ea"/>
                <a:ea typeface="+mn-ea"/>
              </a:rPr>
              <a:t> (</a:t>
            </a:r>
            <a:r>
              <a:rPr lang="en-US" altLang="ko-KR" sz="1100" b="0" dirty="0" err="1" smtClean="0">
                <a:latin typeface="+mn-ea"/>
                <a:ea typeface="+mn-ea"/>
              </a:rPr>
              <a:t>len</a:t>
            </a:r>
            <a:r>
              <a:rPr lang="en-US" altLang="ko-KR" sz="1100" b="0" dirty="0" smtClean="0">
                <a:latin typeface="+mn-ea"/>
                <a:ea typeface="+mn-ea"/>
              </a:rPr>
              <a:t>(temp) &lt; </a:t>
            </a:r>
            <a:r>
              <a:rPr lang="en-US" altLang="ko-KR" sz="1100" b="0" dirty="0" err="1" smtClean="0">
                <a:latin typeface="+mn-ea"/>
                <a:ea typeface="+mn-ea"/>
              </a:rPr>
              <a:t>requested_number_of_bits</a:t>
            </a:r>
            <a:r>
              <a:rPr lang="en-US" altLang="ko-KR" sz="1100" b="0" dirty="0" smtClean="0">
                <a:latin typeface="+mn-ea"/>
                <a:ea typeface="+mn-ea"/>
              </a:rPr>
              <a:t>) </a:t>
            </a:r>
            <a:r>
              <a:rPr lang="en-US" altLang="ko-KR" sz="1100" dirty="0" smtClean="0">
                <a:latin typeface="+mn-ea"/>
                <a:ea typeface="+mn-ea"/>
              </a:rPr>
              <a:t>do</a:t>
            </a:r>
          </a:p>
          <a:p>
            <a:pPr>
              <a:lnSpc>
                <a:spcPct val="150000"/>
              </a:lnSpc>
            </a:pPr>
            <a:r>
              <a:rPr lang="en-US" altLang="ko-KR" sz="1100" b="0" dirty="0" smtClean="0">
                <a:latin typeface="+mn-ea"/>
                <a:ea typeface="+mn-ea"/>
              </a:rPr>
              <a:t>        V = (V + 1) mod 2</a:t>
            </a:r>
            <a:r>
              <a:rPr lang="en-US" altLang="ko-KR" sz="1100" b="0" baseline="30000" dirty="0" smtClean="0">
                <a:latin typeface="+mn-ea"/>
                <a:ea typeface="+mn-ea"/>
              </a:rPr>
              <a:t>128</a:t>
            </a:r>
          </a:p>
          <a:p>
            <a:pPr>
              <a:lnSpc>
                <a:spcPct val="150000"/>
              </a:lnSpc>
            </a:pPr>
            <a:r>
              <a:rPr lang="en-US" altLang="ko-KR" sz="1100" b="0" dirty="0" smtClean="0">
                <a:latin typeface="+mn-ea"/>
                <a:ea typeface="+mn-ea"/>
              </a:rPr>
              <a:t>        </a:t>
            </a:r>
            <a:r>
              <a:rPr lang="en-US" altLang="ko-KR" sz="1100" b="0" dirty="0" err="1" smtClean="0">
                <a:latin typeface="+mn-ea"/>
                <a:ea typeface="+mn-ea"/>
              </a:rPr>
              <a:t>output_block</a:t>
            </a:r>
            <a:r>
              <a:rPr lang="en-US" altLang="ko-KR" sz="1100" b="0" dirty="0" smtClean="0">
                <a:latin typeface="+mn-ea"/>
                <a:ea typeface="+mn-ea"/>
              </a:rPr>
              <a:t> = E(Key, V)</a:t>
            </a:r>
          </a:p>
          <a:p>
            <a:pPr>
              <a:lnSpc>
                <a:spcPct val="150000"/>
              </a:lnSpc>
            </a:pPr>
            <a:r>
              <a:rPr lang="en-US" altLang="ko-KR" sz="1100" b="0" dirty="0" smtClean="0">
                <a:latin typeface="+mn-ea"/>
                <a:ea typeface="+mn-ea"/>
              </a:rPr>
              <a:t>        temp = temp || </a:t>
            </a:r>
            <a:r>
              <a:rPr lang="en-US" altLang="ko-KR" sz="1100" b="0" dirty="0" err="1" smtClean="0">
                <a:latin typeface="+mn-ea"/>
                <a:ea typeface="+mn-ea"/>
              </a:rPr>
              <a:t>output_block</a:t>
            </a:r>
            <a:endParaRPr lang="en-US" altLang="ko-KR" sz="1100" b="0" dirty="0" smtClean="0">
              <a:latin typeface="+mn-ea"/>
              <a:ea typeface="+mn-ea"/>
            </a:endParaRPr>
          </a:p>
        </p:txBody>
      </p:sp>
      <p:sp>
        <p:nvSpPr>
          <p:cNvPr id="66" name="모서리가 둥근 직사각형 65"/>
          <p:cNvSpPr/>
          <p:nvPr/>
        </p:nvSpPr>
        <p:spPr bwMode="auto">
          <a:xfrm>
            <a:off x="5148064" y="4581128"/>
            <a:ext cx="3744416" cy="18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345038" y="4941867"/>
            <a:ext cx="345638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 smtClean="0">
                <a:latin typeface="+mn-ea"/>
                <a:ea typeface="+mn-ea"/>
              </a:rPr>
              <a:t>while</a:t>
            </a:r>
            <a:r>
              <a:rPr lang="en-US" altLang="ko-KR" sz="1100" b="0" dirty="0" smtClean="0">
                <a:latin typeface="+mn-ea"/>
                <a:ea typeface="+mn-ea"/>
              </a:rPr>
              <a:t> (</a:t>
            </a:r>
            <a:r>
              <a:rPr lang="en-US" altLang="ko-KR" sz="1100" b="0" dirty="0" err="1" smtClean="0">
                <a:latin typeface="+mn-ea"/>
                <a:ea typeface="+mn-ea"/>
              </a:rPr>
              <a:t>len</a:t>
            </a:r>
            <a:r>
              <a:rPr lang="en-US" altLang="ko-KR" sz="1100" b="0" dirty="0" smtClean="0">
                <a:latin typeface="+mn-ea"/>
                <a:ea typeface="+mn-ea"/>
              </a:rPr>
              <a:t>(temp) &lt; </a:t>
            </a:r>
            <a:r>
              <a:rPr lang="en-US" altLang="ko-KR" sz="1100" b="0" dirty="0" err="1" smtClean="0">
                <a:latin typeface="+mn-ea"/>
                <a:ea typeface="+mn-ea"/>
              </a:rPr>
              <a:t>requested_number_of_bits</a:t>
            </a:r>
            <a:r>
              <a:rPr lang="en-US" altLang="ko-KR" sz="1100" b="0" dirty="0" smtClean="0">
                <a:latin typeface="+mn-ea"/>
                <a:ea typeface="+mn-ea"/>
              </a:rPr>
              <a:t>) </a:t>
            </a:r>
            <a:r>
              <a:rPr lang="en-US" altLang="ko-KR" sz="1100" dirty="0" smtClean="0">
                <a:latin typeface="+mn-ea"/>
                <a:ea typeface="+mn-ea"/>
              </a:rPr>
              <a:t>do</a:t>
            </a:r>
          </a:p>
          <a:p>
            <a:pPr>
              <a:lnSpc>
                <a:spcPct val="150000"/>
              </a:lnSpc>
            </a:pPr>
            <a:r>
              <a:rPr lang="en-US" altLang="ko-KR" sz="1100" b="0" dirty="0" smtClean="0">
                <a:latin typeface="+mn-ea"/>
                <a:ea typeface="+mn-ea"/>
              </a:rPr>
              <a:t>        V = </a:t>
            </a:r>
            <a:r>
              <a:rPr lang="en-US" altLang="ko-KR" sz="1100" b="0" dirty="0" smtClean="0">
                <a:latin typeface="+mn-ea"/>
              </a:rPr>
              <a:t>E(Key, V)</a:t>
            </a:r>
            <a:endParaRPr lang="en-US" altLang="ko-KR" sz="1100" b="0" baseline="300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dirty="0" smtClean="0">
                <a:latin typeface="+mn-ea"/>
                <a:ea typeface="+mn-ea"/>
              </a:rPr>
              <a:t>        temp = temp || V</a:t>
            </a:r>
          </a:p>
        </p:txBody>
      </p:sp>
      <p:sp>
        <p:nvSpPr>
          <p:cNvPr id="68" name="직사각형 67"/>
          <p:cNvSpPr/>
          <p:nvPr/>
        </p:nvSpPr>
        <p:spPr bwMode="auto">
          <a:xfrm>
            <a:off x="611560" y="4509120"/>
            <a:ext cx="1008112" cy="2880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CTR</a:t>
            </a:r>
            <a:endParaRPr kumimoji="1" lang="ko-KR" altLang="en-US" sz="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5436096" y="4509120"/>
            <a:ext cx="1008112" cy="2880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OFB</a:t>
            </a:r>
            <a:endParaRPr kumimoji="1" lang="ko-KR" altLang="en-US" sz="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7.3 </a:t>
            </a:r>
            <a:r>
              <a:rPr lang="ko-KR" altLang="en-US" dirty="0" smtClean="0"/>
              <a:t>블록 암호를 사용한 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PRNG </a:t>
            </a:r>
            <a:r>
              <a:rPr lang="ko-KR" altLang="en-US" dirty="0" smtClean="0"/>
              <a:t>성능실험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graphicFrame>
        <p:nvGraphicFramePr>
          <p:cNvPr id="35" name="표 34"/>
          <p:cNvGraphicFramePr>
            <a:graphicFrameLocks noGrp="1"/>
          </p:cNvGraphicFramePr>
          <p:nvPr/>
        </p:nvGraphicFramePr>
        <p:xfrm>
          <a:off x="1500336" y="1412776"/>
          <a:ext cx="60960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8112"/>
                <a:gridCol w="508788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Key</a:t>
                      </a:r>
                      <a:r>
                        <a:rPr lang="en-US" altLang="ko-KR" baseline="0" dirty="0" smtClean="0"/>
                        <a:t> :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cfb0ef3108d49cc4562d5810b0a9af60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V :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4c89af496176b728ed1e2ea8ba27f5a4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72008" y="2924944"/>
          <a:ext cx="4355976" cy="324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767"/>
                <a:gridCol w="792088"/>
                <a:gridCol w="1080121"/>
              </a:tblGrid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Output  Block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Fraction of One Bit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Fraction of Bits that Match with Preceding Block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1786f4c7ff6e291dbdfdd90ec3453176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0.57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-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5e17b22b14677a4d66890f87565eae64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0.52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fd18284ac82251dfb3aa62c326cd46cc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0.47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0.54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c8e545198a758ef5dd86b41946389bd5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0.44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fe7bae0e23019542962e2c52d215a2e3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0.47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0.48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14fdf5ec99469598ae0379492803accd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0.49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0.52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6aeca972e5a3ef17bd1a1b775fc8b929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0.57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0.48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f7e97badf359d128f00d9b4ae323bd64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0.45</a:t>
                      </a:r>
                      <a:endParaRPr lang="ko-KR" altLang="en-US" sz="11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/>
        </p:nvGraphicFramePr>
        <p:xfrm>
          <a:off x="4644008" y="2924944"/>
          <a:ext cx="4355976" cy="3247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83767"/>
                <a:gridCol w="792088"/>
                <a:gridCol w="1080121"/>
              </a:tblGrid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Output  Block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Fraction of One Bit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Fraction of Bits that Match with Preceding Block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1786f4c7ff6e291dbdfdd90ec3453176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0.57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-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60809669a3e092a01b463472fdcae420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0.41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d4e6e170b46b0573eedf88ee39bff33d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0.59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0.45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5f8fcfc5deca18ea246785d7fabc76f8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0.59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0.52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90e63ed27bb07868c753545bdd57ee28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0.53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0.52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0125856fdf4a17f747c7833695c52235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0.50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0.47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f4be2d179b0f2548fd748c8fc7c81990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0.48</a:t>
                      </a:r>
                      <a:endParaRPr lang="ko-KR" altLang="en-US" sz="1100" dirty="0"/>
                    </a:p>
                  </a:txBody>
                  <a:tcPr anchor="ctr"/>
                </a:tc>
              </a:tr>
              <a:tr h="2897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/>
                        <a:t>1151fc48f90eebac658a3911515c3c66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0.47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0.45</a:t>
                      </a:r>
                      <a:endParaRPr lang="ko-KR" altLang="en-US" sz="11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107504" y="2636912"/>
            <a:ext cx="37444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 smtClean="0">
                <a:latin typeface="+mn-ea"/>
                <a:ea typeface="+mn-ea"/>
              </a:rPr>
              <a:t>OFB</a:t>
            </a:r>
            <a:r>
              <a:rPr lang="ko-KR" altLang="en-US" sz="1300" dirty="0" smtClean="0">
                <a:latin typeface="+mn-ea"/>
                <a:ea typeface="+mn-ea"/>
              </a:rPr>
              <a:t>를 이용한 </a:t>
            </a:r>
            <a:r>
              <a:rPr lang="en-US" altLang="ko-KR" sz="1300" dirty="0" smtClean="0">
                <a:latin typeface="+mn-ea"/>
                <a:ea typeface="+mn-ea"/>
              </a:rPr>
              <a:t>PRNG</a:t>
            </a:r>
            <a:r>
              <a:rPr lang="ko-KR" altLang="en-US" sz="1300" dirty="0" smtClean="0">
                <a:latin typeface="+mn-ea"/>
                <a:ea typeface="+mn-ea"/>
              </a:rPr>
              <a:t>의 결과 예</a:t>
            </a:r>
            <a:endParaRPr lang="ko-KR" altLang="en-US" sz="1300" dirty="0">
              <a:latin typeface="+mn-ea"/>
              <a:ea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44008" y="2636912"/>
            <a:ext cx="37444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 smtClean="0">
                <a:latin typeface="+mn-ea"/>
                <a:ea typeface="+mn-ea"/>
              </a:rPr>
              <a:t>CTR</a:t>
            </a:r>
            <a:r>
              <a:rPr lang="ko-KR" altLang="en-US" sz="1300" dirty="0" smtClean="0">
                <a:latin typeface="+mn-ea"/>
                <a:ea typeface="+mn-ea"/>
              </a:rPr>
              <a:t>을 이용한 </a:t>
            </a:r>
            <a:r>
              <a:rPr lang="en-US" altLang="ko-KR" sz="1300" dirty="0" smtClean="0">
                <a:latin typeface="+mn-ea"/>
                <a:ea typeface="+mn-ea"/>
              </a:rPr>
              <a:t>PRNG</a:t>
            </a:r>
            <a:r>
              <a:rPr lang="ko-KR" altLang="en-US" sz="1300" dirty="0" smtClean="0">
                <a:latin typeface="+mn-ea"/>
                <a:ea typeface="+mn-ea"/>
              </a:rPr>
              <a:t>의 결과 예</a:t>
            </a:r>
            <a:endParaRPr lang="ko-KR" altLang="en-US" sz="13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7.3 </a:t>
            </a:r>
            <a:r>
              <a:rPr lang="ko-KR" altLang="en-US" dirty="0" smtClean="0"/>
              <a:t>블록 암호를 사용한 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ANSi</a:t>
            </a:r>
            <a:r>
              <a:rPr lang="en-US" altLang="ko-KR" dirty="0" smtClean="0"/>
              <a:t> X9.17 </a:t>
            </a:r>
            <a:r>
              <a:rPr lang="ko-KR" altLang="en-US" dirty="0" smtClean="0"/>
              <a:t>의사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입력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현재의 날짜와 시간</a:t>
            </a:r>
            <a:r>
              <a:rPr lang="en-US" altLang="ko-KR" dirty="0" smtClean="0"/>
              <a:t>(64</a:t>
            </a:r>
            <a:r>
              <a:rPr lang="ko-KR" altLang="en-US" dirty="0" smtClean="0"/>
              <a:t>비트</a:t>
            </a:r>
            <a:r>
              <a:rPr lang="en-US" altLang="ko-KR" dirty="0" smtClean="0"/>
              <a:t>), seed</a:t>
            </a:r>
            <a:r>
              <a:rPr lang="ko-KR" altLang="en-US" dirty="0" smtClean="0"/>
              <a:t>값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키 </a:t>
            </a:r>
            <a:r>
              <a:rPr lang="en-US" altLang="ko-KR" dirty="0" smtClean="0"/>
              <a:t>: 3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3-DES</a:t>
            </a:r>
            <a:r>
              <a:rPr lang="ko-KR" altLang="en-US" dirty="0" smtClean="0"/>
              <a:t>모듈 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동일한 </a:t>
            </a:r>
            <a:r>
              <a:rPr lang="en-US" altLang="ko-KR" dirty="0" smtClean="0"/>
              <a:t>56</a:t>
            </a:r>
            <a:r>
              <a:rPr lang="ko-KR" altLang="en-US" dirty="0" smtClean="0"/>
              <a:t>비트 키 쌍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출력 </a:t>
            </a:r>
            <a:r>
              <a:rPr lang="en-US" altLang="ko-KR" dirty="0" smtClean="0"/>
              <a:t>: 64</a:t>
            </a:r>
            <a:r>
              <a:rPr lang="ko-KR" altLang="en-US" dirty="0" smtClean="0"/>
              <a:t>비트 의사 </a:t>
            </a:r>
            <a:r>
              <a:rPr lang="ko-KR" altLang="en-US" dirty="0" err="1" smtClean="0"/>
              <a:t>난수와</a:t>
            </a:r>
            <a:r>
              <a:rPr lang="ko-KR" altLang="en-US" dirty="0" smtClean="0"/>
              <a:t> </a:t>
            </a:r>
            <a:r>
              <a:rPr lang="en-US" altLang="ko-KR" dirty="0" smtClean="0"/>
              <a:t>64</a:t>
            </a:r>
            <a:r>
              <a:rPr lang="ko-KR" altLang="en-US" dirty="0" smtClean="0"/>
              <a:t>비트 </a:t>
            </a:r>
            <a:r>
              <a:rPr lang="en-US" altLang="ko-KR" dirty="0" smtClean="0"/>
              <a:t>seed</a:t>
            </a:r>
            <a:r>
              <a:rPr lang="ko-KR" altLang="en-US" dirty="0" smtClean="0"/>
              <a:t>값으로 구성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 bwMode="auto">
          <a:xfrm>
            <a:off x="2339752" y="3140968"/>
            <a:ext cx="4464496" cy="237626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2771800" y="3429000"/>
            <a:ext cx="72008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EDE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3995936" y="4653136"/>
            <a:ext cx="72008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EDE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 bwMode="auto">
          <a:xfrm>
            <a:off x="5652120" y="3971156"/>
            <a:ext cx="720080" cy="43204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EDE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4932040" y="4077072"/>
            <a:ext cx="216024" cy="216024"/>
            <a:chOff x="6948264" y="2852936"/>
            <a:chExt cx="360040" cy="360040"/>
          </a:xfrm>
        </p:grpSpPr>
        <p:sp>
          <p:nvSpPr>
            <p:cNvPr id="44" name="타원 43"/>
            <p:cNvSpPr/>
            <p:nvPr/>
          </p:nvSpPr>
          <p:spPr bwMode="auto">
            <a:xfrm>
              <a:off x="6948264" y="2852936"/>
              <a:ext cx="360040" cy="360040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51" name="직선 연결선 50"/>
            <p:cNvCxnSpPr>
              <a:stCxn id="44" idx="0"/>
              <a:endCxn id="44" idx="4"/>
            </p:cNvCxnSpPr>
            <p:nvPr/>
          </p:nvCxnSpPr>
          <p:spPr bwMode="auto">
            <a:xfrm rot="162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직선 연결선 52"/>
            <p:cNvCxnSpPr>
              <a:stCxn id="44" idx="2"/>
              <a:endCxn id="44" idx="6"/>
            </p:cNvCxnSpPr>
            <p:nvPr/>
          </p:nvCxnSpPr>
          <p:spPr bwMode="auto">
            <a:xfrm rot="108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54"/>
          <p:cNvGrpSpPr/>
          <p:nvPr/>
        </p:nvGrpSpPr>
        <p:grpSpPr>
          <a:xfrm>
            <a:off x="3021732" y="4759052"/>
            <a:ext cx="216024" cy="216024"/>
            <a:chOff x="6948264" y="2852936"/>
            <a:chExt cx="360040" cy="360040"/>
          </a:xfrm>
        </p:grpSpPr>
        <p:sp>
          <p:nvSpPr>
            <p:cNvPr id="58" name="타원 57"/>
            <p:cNvSpPr/>
            <p:nvPr/>
          </p:nvSpPr>
          <p:spPr bwMode="auto">
            <a:xfrm>
              <a:off x="6948264" y="2852936"/>
              <a:ext cx="360040" cy="360040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59" name="직선 연결선 58"/>
            <p:cNvCxnSpPr>
              <a:stCxn id="58" idx="0"/>
              <a:endCxn id="58" idx="4"/>
            </p:cNvCxnSpPr>
            <p:nvPr/>
          </p:nvCxnSpPr>
          <p:spPr bwMode="auto">
            <a:xfrm rot="162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직선 연결선 60"/>
            <p:cNvCxnSpPr>
              <a:stCxn id="58" idx="2"/>
              <a:endCxn id="58" idx="6"/>
            </p:cNvCxnSpPr>
            <p:nvPr/>
          </p:nvCxnSpPr>
          <p:spPr bwMode="auto">
            <a:xfrm rot="108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65" name="직선 화살표 연결선 64"/>
          <p:cNvCxnSpPr>
            <a:stCxn id="37" idx="2"/>
            <a:endCxn id="58" idx="0"/>
          </p:cNvCxnSpPr>
          <p:nvPr/>
        </p:nvCxnSpPr>
        <p:spPr bwMode="auto">
          <a:xfrm rot="5400000">
            <a:off x="2681790" y="4309002"/>
            <a:ext cx="898004" cy="2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직선 화살표 연결선 70"/>
          <p:cNvCxnSpPr>
            <a:stCxn id="58" idx="6"/>
            <a:endCxn id="39" idx="1"/>
          </p:cNvCxnSpPr>
          <p:nvPr/>
        </p:nvCxnSpPr>
        <p:spPr bwMode="auto">
          <a:xfrm>
            <a:off x="3237756" y="4867064"/>
            <a:ext cx="758180" cy="2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직선 화살표 연결선 72"/>
          <p:cNvCxnSpPr/>
          <p:nvPr/>
        </p:nvCxnSpPr>
        <p:spPr bwMode="auto">
          <a:xfrm>
            <a:off x="3131840" y="4182988"/>
            <a:ext cx="18002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5" name="직선 화살표 연결선 74"/>
          <p:cNvCxnSpPr>
            <a:stCxn id="44" idx="6"/>
            <a:endCxn id="41" idx="1"/>
          </p:cNvCxnSpPr>
          <p:nvPr/>
        </p:nvCxnSpPr>
        <p:spPr bwMode="auto">
          <a:xfrm>
            <a:off x="5148064" y="4185084"/>
            <a:ext cx="504056" cy="2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직선 화살표 연결선 76"/>
          <p:cNvCxnSpPr/>
          <p:nvPr/>
        </p:nvCxnSpPr>
        <p:spPr bwMode="auto">
          <a:xfrm rot="5400000">
            <a:off x="3457178" y="3789040"/>
            <a:ext cx="172819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TextBox 77"/>
          <p:cNvSpPr txBox="1"/>
          <p:nvPr/>
        </p:nvSpPr>
        <p:spPr bwMode="auto">
          <a:xfrm>
            <a:off x="3995936" y="2636912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K</a:t>
            </a:r>
            <a:r>
              <a:rPr kumimoji="0" lang="en-US" altLang="ko-KR" sz="1000" b="1" kern="0" baseline="-25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1</a:t>
            </a: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, K</a:t>
            </a:r>
            <a:r>
              <a:rPr kumimoji="0" lang="en-US" altLang="ko-KR" sz="1000" b="1" kern="0" baseline="-25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2</a:t>
            </a:r>
            <a:endParaRPr kumimoji="0" lang="ko-KR" altLang="en-US" sz="1000" b="1" kern="0" baseline="-250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80" name="직선 화살표 연결선 79"/>
          <p:cNvCxnSpPr/>
          <p:nvPr/>
        </p:nvCxnSpPr>
        <p:spPr bwMode="auto">
          <a:xfrm flipV="1">
            <a:off x="6372200" y="4182988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TextBox 80"/>
          <p:cNvSpPr txBox="1"/>
          <p:nvPr/>
        </p:nvSpPr>
        <p:spPr bwMode="auto">
          <a:xfrm>
            <a:off x="7020272" y="4052689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V</a:t>
            </a:r>
            <a:r>
              <a:rPr kumimoji="0" lang="en-US" altLang="ko-KR" sz="1000" b="1" kern="0" baseline="-25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i+1</a:t>
            </a:r>
            <a:endParaRPr kumimoji="0" lang="ko-KR" altLang="en-US" sz="1000" b="1" kern="0" baseline="-250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83" name="직선 화살표 연결선 82"/>
          <p:cNvCxnSpPr/>
          <p:nvPr/>
        </p:nvCxnSpPr>
        <p:spPr bwMode="auto">
          <a:xfrm>
            <a:off x="2051720" y="3645024"/>
            <a:ext cx="72008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4" name="TextBox 83"/>
          <p:cNvSpPr txBox="1"/>
          <p:nvPr/>
        </p:nvSpPr>
        <p:spPr bwMode="auto">
          <a:xfrm>
            <a:off x="1528614" y="3510533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err="1" smtClean="0">
                <a:solidFill>
                  <a:sysClr val="windowText" lastClr="000000"/>
                </a:solidFill>
                <a:latin typeface="+mn-ea"/>
                <a:ea typeface="+mn-ea"/>
              </a:rPr>
              <a:t>DT</a:t>
            </a:r>
            <a:r>
              <a:rPr kumimoji="0" lang="en-US" altLang="ko-KR" sz="1000" b="1" kern="0" baseline="-25000" dirty="0" err="1" smtClean="0">
                <a:solidFill>
                  <a:sysClr val="windowText" lastClr="000000"/>
                </a:solidFill>
                <a:latin typeface="+mn-ea"/>
                <a:ea typeface="+mn-ea"/>
              </a:rPr>
              <a:t>i</a:t>
            </a:r>
            <a:endParaRPr kumimoji="0" lang="ko-KR" altLang="en-US" sz="1000" b="1" kern="0" baseline="-250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86" name="직선 화살표 연결선 85"/>
          <p:cNvCxnSpPr/>
          <p:nvPr/>
        </p:nvCxnSpPr>
        <p:spPr bwMode="auto">
          <a:xfrm>
            <a:off x="2051720" y="4869160"/>
            <a:ext cx="9361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TextBox 86"/>
          <p:cNvSpPr txBox="1"/>
          <p:nvPr/>
        </p:nvSpPr>
        <p:spPr bwMode="auto">
          <a:xfrm>
            <a:off x="1528614" y="4725144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V</a:t>
            </a:r>
            <a:r>
              <a:rPr kumimoji="0" lang="en-US" altLang="ko-KR" sz="1000" b="1" kern="0" baseline="-2500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i</a:t>
            </a:r>
            <a:endParaRPr kumimoji="0" lang="ko-KR" altLang="en-US" sz="1000" b="1" kern="0" baseline="-250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89" name="직선 화살표 연결선 88"/>
          <p:cNvCxnSpPr>
            <a:stCxn id="39" idx="2"/>
          </p:cNvCxnSpPr>
          <p:nvPr/>
        </p:nvCxnSpPr>
        <p:spPr bwMode="auto">
          <a:xfrm rot="5400000">
            <a:off x="3995936" y="5445224"/>
            <a:ext cx="72008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TextBox 89"/>
          <p:cNvSpPr txBox="1"/>
          <p:nvPr/>
        </p:nvSpPr>
        <p:spPr bwMode="auto">
          <a:xfrm>
            <a:off x="3995936" y="5805264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err="1" smtClean="0">
                <a:solidFill>
                  <a:sysClr val="windowText" lastClr="000000"/>
                </a:solidFill>
                <a:latin typeface="+mn-ea"/>
                <a:ea typeface="+mn-ea"/>
              </a:rPr>
              <a:t>R</a:t>
            </a:r>
            <a:r>
              <a:rPr kumimoji="0" lang="en-US" altLang="ko-KR" sz="1000" b="1" kern="0" baseline="-25000" dirty="0" err="1" smtClean="0">
                <a:solidFill>
                  <a:sysClr val="windowText" lastClr="000000"/>
                </a:solidFill>
                <a:latin typeface="+mn-ea"/>
                <a:ea typeface="+mn-ea"/>
              </a:rPr>
              <a:t>i</a:t>
            </a:r>
            <a:endParaRPr kumimoji="0" lang="ko-KR" altLang="en-US" sz="1000" b="1" kern="0" baseline="-250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92" name="꺾인 연결선 91"/>
          <p:cNvCxnSpPr>
            <a:endCxn id="44" idx="4"/>
          </p:cNvCxnSpPr>
          <p:nvPr/>
        </p:nvCxnSpPr>
        <p:spPr bwMode="auto">
          <a:xfrm rot="5400000" flipH="1" flipV="1">
            <a:off x="4193958" y="4455114"/>
            <a:ext cx="1008112" cy="684076"/>
          </a:xfrm>
          <a:prstGeom prst="bentConnector3">
            <a:avLst>
              <a:gd name="adj1" fmla="val -102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5" name="꺾인 연결선 94"/>
          <p:cNvCxnSpPr>
            <a:stCxn id="41" idx="0"/>
            <a:endCxn id="37" idx="0"/>
          </p:cNvCxnSpPr>
          <p:nvPr/>
        </p:nvCxnSpPr>
        <p:spPr bwMode="auto">
          <a:xfrm rot="16200000" flipV="1">
            <a:off x="4300922" y="2259918"/>
            <a:ext cx="542156" cy="2880320"/>
          </a:xfrm>
          <a:prstGeom prst="bentConnector3">
            <a:avLst>
              <a:gd name="adj1" fmla="val 14216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7.4 </a:t>
            </a:r>
            <a:r>
              <a:rPr lang="ko-KR" altLang="en-US" dirty="0" err="1" smtClean="0"/>
              <a:t>스트림</a:t>
            </a:r>
            <a:r>
              <a:rPr lang="ko-KR" altLang="en-US" dirty="0" smtClean="0"/>
              <a:t> 암호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일반적인 </a:t>
            </a:r>
            <a:r>
              <a:rPr lang="ko-KR" altLang="en-US" dirty="0" err="1" smtClean="0"/>
              <a:t>스트림</a:t>
            </a:r>
            <a:r>
              <a:rPr lang="ko-KR" altLang="en-US" dirty="0" smtClean="0"/>
              <a:t> 암호는 한번에 </a:t>
            </a:r>
            <a:r>
              <a:rPr lang="en-US" altLang="ko-KR" dirty="0" smtClean="0"/>
              <a:t>1 </a:t>
            </a:r>
            <a:r>
              <a:rPr lang="ko-KR" altLang="en-US" dirty="0" smtClean="0"/>
              <a:t>바이트씩 </a:t>
            </a:r>
            <a:r>
              <a:rPr lang="ko-KR" altLang="en-US" dirty="0" err="1" smtClean="0"/>
              <a:t>평문</a:t>
            </a:r>
            <a:r>
              <a:rPr lang="ko-KR" altLang="en-US" dirty="0" smtClean="0"/>
              <a:t> 암호화</a:t>
            </a:r>
            <a:endParaRPr lang="en-US" altLang="ko-KR" dirty="0" smtClean="0"/>
          </a:p>
          <a:p>
            <a:endParaRPr lang="ko-KR" altLang="en-US" dirty="0"/>
          </a:p>
        </p:txBody>
      </p:sp>
      <p:grpSp>
        <p:nvGrpSpPr>
          <p:cNvPr id="23" name="그룹 22"/>
          <p:cNvGrpSpPr/>
          <p:nvPr/>
        </p:nvGrpSpPr>
        <p:grpSpPr>
          <a:xfrm>
            <a:off x="698426" y="1844824"/>
            <a:ext cx="7113934" cy="1012468"/>
            <a:chOff x="698426" y="1844824"/>
            <a:chExt cx="7113934" cy="1012468"/>
          </a:xfrm>
        </p:grpSpPr>
        <p:sp>
          <p:nvSpPr>
            <p:cNvPr id="6" name="TextBox 5"/>
            <p:cNvSpPr txBox="1"/>
            <p:nvPr/>
          </p:nvSpPr>
          <p:spPr bwMode="auto">
            <a:xfrm>
              <a:off x="1403648" y="184482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11001100</a:t>
              </a:r>
              <a:endParaRPr kumimoji="0" lang="ko-KR" altLang="en-US" sz="1300" b="1" kern="0" baseline="-2500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1403648" y="2132856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01101100</a:t>
              </a:r>
              <a:endParaRPr kumimoji="0" lang="ko-KR" altLang="en-US" sz="1300" b="1" kern="0" baseline="-2500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698426" y="2117998"/>
              <a:ext cx="12961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dirty="0" smtClean="0"/>
                <a:t> ⊕</a:t>
              </a:r>
            </a:p>
          </p:txBody>
        </p:sp>
        <p:cxnSp>
          <p:nvCxnSpPr>
            <p:cNvPr id="10" name="직선 연결선 9"/>
            <p:cNvCxnSpPr/>
            <p:nvPr/>
          </p:nvCxnSpPr>
          <p:spPr bwMode="auto">
            <a:xfrm>
              <a:off x="1115616" y="2536329"/>
              <a:ext cx="158417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Box 10"/>
            <p:cNvSpPr txBox="1"/>
            <p:nvPr/>
          </p:nvSpPr>
          <p:spPr bwMode="auto">
            <a:xfrm>
              <a:off x="1403648" y="256490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10100000</a:t>
              </a:r>
              <a:endParaRPr kumimoji="0" lang="ko-KR" altLang="en-US" sz="1300" b="1" kern="0" baseline="-2500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2411760" y="184482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300" b="1" kern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평문</a:t>
              </a:r>
              <a:endParaRPr kumimoji="0" lang="ko-KR" altLang="en-US" sz="13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2411760" y="2132856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키 </a:t>
              </a:r>
              <a:r>
                <a:rPr kumimoji="0" lang="ko-KR" altLang="en-US" sz="1300" b="1" kern="0" dirty="0" err="1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스트림</a:t>
              </a:r>
              <a:endParaRPr kumimoji="0" lang="ko-KR" altLang="en-US" sz="13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2411760" y="256490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암호문</a:t>
              </a:r>
              <a:endParaRPr kumimoji="0" lang="ko-KR" altLang="en-US" sz="13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5508104" y="184482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10100000</a:t>
              </a:r>
              <a:endParaRPr kumimoji="0" lang="ko-KR" altLang="en-US" sz="1300" b="1" kern="0" baseline="-2500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5508104" y="2132856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01101100</a:t>
              </a:r>
              <a:endParaRPr kumimoji="0" lang="ko-KR" altLang="en-US" sz="1300" b="1" kern="0" baseline="-2500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 bwMode="auto">
            <a:xfrm>
              <a:off x="4802882" y="2117998"/>
              <a:ext cx="129614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dirty="0" smtClean="0"/>
                <a:t> ⊕</a:t>
              </a:r>
            </a:p>
          </p:txBody>
        </p:sp>
        <p:cxnSp>
          <p:nvCxnSpPr>
            <p:cNvPr id="18" name="직선 연결선 17"/>
            <p:cNvCxnSpPr/>
            <p:nvPr/>
          </p:nvCxnSpPr>
          <p:spPr bwMode="auto">
            <a:xfrm>
              <a:off x="5220072" y="2536329"/>
              <a:ext cx="158417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Box 18"/>
            <p:cNvSpPr txBox="1"/>
            <p:nvPr/>
          </p:nvSpPr>
          <p:spPr bwMode="auto">
            <a:xfrm>
              <a:off x="5508104" y="256490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11001100</a:t>
              </a:r>
              <a:endParaRPr kumimoji="0" lang="ko-KR" altLang="en-US" sz="1300" b="1" kern="0" baseline="-2500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 bwMode="auto">
            <a:xfrm>
              <a:off x="6516216" y="184482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암호문</a:t>
              </a:r>
              <a:endParaRPr kumimoji="0" lang="ko-KR" altLang="en-US" sz="13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6516216" y="2132856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3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키 </a:t>
              </a:r>
              <a:r>
                <a:rPr kumimoji="0" lang="ko-KR" altLang="en-US" sz="1300" b="1" kern="0" dirty="0" err="1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스트림</a:t>
              </a:r>
              <a:endParaRPr kumimoji="0" lang="ko-KR" altLang="en-US" sz="13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6516216" y="2564904"/>
              <a:ext cx="1296144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300" b="1" kern="0" dirty="0" err="1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평문</a:t>
              </a:r>
              <a:endParaRPr kumimoji="0" lang="ko-KR" altLang="en-US" sz="13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4" name="직사각형 23"/>
          <p:cNvSpPr/>
          <p:nvPr/>
        </p:nvSpPr>
        <p:spPr bwMode="auto">
          <a:xfrm>
            <a:off x="1259632" y="3645024"/>
            <a:ext cx="2160240" cy="237626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5436096" y="3645024"/>
            <a:ext cx="2160240" cy="237626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1475656" y="4077072"/>
            <a:ext cx="1800200" cy="792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Pseudorandom byte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>
                <a:latin typeface="+mn-ea"/>
                <a:ea typeface="+mn-ea"/>
              </a:rPr>
              <a:t>generator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(key stream</a:t>
            </a:r>
            <a:r>
              <a:rPr kumimoji="1" lang="en-US" altLang="ko-KR" sz="1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generator</a:t>
            </a: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ko-KR" alt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5652120" y="4077072"/>
            <a:ext cx="1800200" cy="7920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Pseudorandom byte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>
                <a:latin typeface="+mn-ea"/>
                <a:ea typeface="+mn-ea"/>
              </a:rPr>
              <a:t>generator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(key stream</a:t>
            </a:r>
            <a:r>
              <a:rPr kumimoji="1" lang="en-US" altLang="ko-KR" sz="1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generator</a:t>
            </a: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ko-KR" alt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2233836" y="5517232"/>
            <a:ext cx="216024" cy="216024"/>
            <a:chOff x="6948264" y="2852936"/>
            <a:chExt cx="360040" cy="360040"/>
          </a:xfrm>
        </p:grpSpPr>
        <p:sp>
          <p:nvSpPr>
            <p:cNvPr id="29" name="타원 28"/>
            <p:cNvSpPr/>
            <p:nvPr/>
          </p:nvSpPr>
          <p:spPr bwMode="auto">
            <a:xfrm>
              <a:off x="6948264" y="2852936"/>
              <a:ext cx="360040" cy="360040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0" name="직선 연결선 29"/>
            <p:cNvCxnSpPr>
              <a:stCxn id="29" idx="0"/>
              <a:endCxn id="29" idx="4"/>
            </p:cNvCxnSpPr>
            <p:nvPr/>
          </p:nvCxnSpPr>
          <p:spPr bwMode="auto">
            <a:xfrm rot="162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직선 연결선 30"/>
            <p:cNvCxnSpPr>
              <a:stCxn id="29" idx="2"/>
              <a:endCxn id="29" idx="6"/>
            </p:cNvCxnSpPr>
            <p:nvPr/>
          </p:nvCxnSpPr>
          <p:spPr bwMode="auto">
            <a:xfrm rot="108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그룹 31"/>
          <p:cNvGrpSpPr/>
          <p:nvPr/>
        </p:nvGrpSpPr>
        <p:grpSpPr>
          <a:xfrm>
            <a:off x="6419825" y="5517232"/>
            <a:ext cx="216024" cy="216024"/>
            <a:chOff x="6948264" y="2852936"/>
            <a:chExt cx="360040" cy="360040"/>
          </a:xfrm>
        </p:grpSpPr>
        <p:sp>
          <p:nvSpPr>
            <p:cNvPr id="33" name="타원 32"/>
            <p:cNvSpPr/>
            <p:nvPr/>
          </p:nvSpPr>
          <p:spPr bwMode="auto">
            <a:xfrm>
              <a:off x="6948264" y="2852936"/>
              <a:ext cx="360040" cy="360040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4" name="직선 연결선 33"/>
            <p:cNvCxnSpPr>
              <a:stCxn id="33" idx="0"/>
              <a:endCxn id="33" idx="4"/>
            </p:cNvCxnSpPr>
            <p:nvPr/>
          </p:nvCxnSpPr>
          <p:spPr bwMode="auto">
            <a:xfrm rot="162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직선 연결선 34"/>
            <p:cNvCxnSpPr>
              <a:stCxn id="33" idx="2"/>
              <a:endCxn id="33" idx="6"/>
            </p:cNvCxnSpPr>
            <p:nvPr/>
          </p:nvCxnSpPr>
          <p:spPr bwMode="auto">
            <a:xfrm rot="10800000" flipH="1">
              <a:off x="6948264" y="3032956"/>
              <a:ext cx="3600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6" name="직사각형 35"/>
          <p:cNvSpPr/>
          <p:nvPr/>
        </p:nvSpPr>
        <p:spPr bwMode="auto">
          <a:xfrm>
            <a:off x="1691680" y="6021288"/>
            <a:ext cx="1296144" cy="2880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Encryption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5868144" y="6021288"/>
            <a:ext cx="1296144" cy="2880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300" dirty="0" smtClean="0">
                <a:solidFill>
                  <a:schemeClr val="tx1"/>
                </a:solidFill>
                <a:latin typeface="+mn-ea"/>
              </a:rPr>
              <a:t>De</a:t>
            </a:r>
            <a:r>
              <a:rPr kumimoji="1" lang="en-US" altLang="ko-KR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cryption</a:t>
            </a:r>
            <a:endParaRPr kumimoji="1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38" name="직선 화살표 연결선 37"/>
          <p:cNvCxnSpPr/>
          <p:nvPr/>
        </p:nvCxnSpPr>
        <p:spPr bwMode="auto">
          <a:xfrm rot="5400000">
            <a:off x="1994811" y="3732130"/>
            <a:ext cx="68988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TextBox 38"/>
          <p:cNvSpPr txBox="1"/>
          <p:nvPr/>
        </p:nvSpPr>
        <p:spPr bwMode="auto">
          <a:xfrm>
            <a:off x="1979712" y="3140968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Key K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42" name="직선 화살표 연결선 41"/>
          <p:cNvCxnSpPr/>
          <p:nvPr/>
        </p:nvCxnSpPr>
        <p:spPr bwMode="auto">
          <a:xfrm rot="5400000">
            <a:off x="6171275" y="3732131"/>
            <a:ext cx="68988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3" name="TextBox 42"/>
          <p:cNvSpPr txBox="1"/>
          <p:nvPr/>
        </p:nvSpPr>
        <p:spPr bwMode="auto">
          <a:xfrm>
            <a:off x="6156176" y="3140969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Key K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44" name="직선 화살표 연결선 43"/>
          <p:cNvCxnSpPr/>
          <p:nvPr/>
        </p:nvCxnSpPr>
        <p:spPr bwMode="auto">
          <a:xfrm rot="5400000">
            <a:off x="2051719" y="5157193"/>
            <a:ext cx="57606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직선 화살표 연결선 45"/>
          <p:cNvCxnSpPr/>
          <p:nvPr/>
        </p:nvCxnSpPr>
        <p:spPr bwMode="auto">
          <a:xfrm rot="5400000">
            <a:off x="6228977" y="5157193"/>
            <a:ext cx="576066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직선 화살표 연결선 47"/>
          <p:cNvCxnSpPr/>
          <p:nvPr/>
        </p:nvCxnSpPr>
        <p:spPr bwMode="auto">
          <a:xfrm>
            <a:off x="1043608" y="5617815"/>
            <a:ext cx="115212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직선 화살표 연결선 48"/>
          <p:cNvCxnSpPr/>
          <p:nvPr/>
        </p:nvCxnSpPr>
        <p:spPr bwMode="auto">
          <a:xfrm>
            <a:off x="2483768" y="5617815"/>
            <a:ext cx="136815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직선 화살표 연결선 50"/>
          <p:cNvCxnSpPr/>
          <p:nvPr/>
        </p:nvCxnSpPr>
        <p:spPr bwMode="auto">
          <a:xfrm>
            <a:off x="5076056" y="5619403"/>
            <a:ext cx="129614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직선 화살표 연결선 51"/>
          <p:cNvCxnSpPr/>
          <p:nvPr/>
        </p:nvCxnSpPr>
        <p:spPr bwMode="auto">
          <a:xfrm>
            <a:off x="6660232" y="5617815"/>
            <a:ext cx="1368152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TextBox 53"/>
          <p:cNvSpPr txBox="1"/>
          <p:nvPr/>
        </p:nvSpPr>
        <p:spPr bwMode="auto">
          <a:xfrm>
            <a:off x="3890020" y="5373216"/>
            <a:ext cx="11521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err="1" smtClean="0">
                <a:solidFill>
                  <a:sysClr val="windowText" lastClr="000000"/>
                </a:solidFill>
                <a:latin typeface="+mn-ea"/>
                <a:ea typeface="+mn-ea"/>
              </a:rPr>
              <a:t>Ciphertext</a:t>
            </a:r>
            <a:endParaRPr kumimoji="0" lang="en-US" altLang="ko-KR" sz="1000" b="1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byte stream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C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55" name="TextBox 54"/>
          <p:cNvSpPr txBox="1"/>
          <p:nvPr/>
        </p:nvSpPr>
        <p:spPr bwMode="auto">
          <a:xfrm>
            <a:off x="0" y="5373216"/>
            <a:ext cx="11521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Plaintext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byte stream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M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56" name="TextBox 55"/>
          <p:cNvSpPr txBox="1"/>
          <p:nvPr/>
        </p:nvSpPr>
        <p:spPr bwMode="auto">
          <a:xfrm>
            <a:off x="7991872" y="5373216"/>
            <a:ext cx="11521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Plaintext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byte stream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M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57" name="TextBox 56"/>
          <p:cNvSpPr txBox="1"/>
          <p:nvPr/>
        </p:nvSpPr>
        <p:spPr bwMode="auto">
          <a:xfrm>
            <a:off x="2195736" y="5157192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K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58" name="TextBox 57"/>
          <p:cNvSpPr txBox="1"/>
          <p:nvPr/>
        </p:nvSpPr>
        <p:spPr bwMode="auto">
          <a:xfrm>
            <a:off x="6300192" y="5157192"/>
            <a:ext cx="720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K</a:t>
            </a:r>
            <a:endParaRPr kumimoji="0" lang="ko-KR" altLang="en-US" sz="1000" b="1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7.4 </a:t>
            </a:r>
            <a:r>
              <a:rPr lang="ko-KR" altLang="en-US" dirty="0" err="1" smtClean="0"/>
              <a:t>스트림</a:t>
            </a:r>
            <a:r>
              <a:rPr lang="ko-KR" altLang="en-US" dirty="0" smtClean="0"/>
              <a:t> 암호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스트림</a:t>
            </a:r>
            <a:r>
              <a:rPr lang="en-US" altLang="ko-KR" dirty="0" smtClean="0"/>
              <a:t> </a:t>
            </a:r>
            <a:r>
              <a:rPr lang="ko-KR" altLang="en-US" dirty="0" smtClean="0"/>
              <a:t>암호 설계 시 고려사항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반복 주기가 길어야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키 </a:t>
            </a:r>
            <a:r>
              <a:rPr lang="ko-KR" altLang="en-US" dirty="0" err="1" smtClean="0"/>
              <a:t>스트림이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랜덤하게</a:t>
            </a:r>
            <a:r>
              <a:rPr lang="ko-KR" altLang="en-US" dirty="0" smtClean="0"/>
              <a:t> 나타나야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키가 충분히 길어야 함</a:t>
            </a:r>
            <a:endParaRPr lang="en-US" altLang="ko-KR" dirty="0" smtClean="0"/>
          </a:p>
          <a:p>
            <a:r>
              <a:rPr lang="ko-KR" altLang="en-US" dirty="0" err="1" smtClean="0"/>
              <a:t>스트림</a:t>
            </a:r>
            <a:r>
              <a:rPr lang="ko-KR" altLang="en-US" dirty="0" smtClean="0"/>
              <a:t> 암호의 장점 및 단점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동일한 크기의 키를 사용하는 블록 암호만큼 안전함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블록 암호에 비해 간단하고 빠른 처리 속도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동일한 키를 가지고 두 개 이상의 </a:t>
            </a:r>
            <a:r>
              <a:rPr lang="ko-KR" altLang="en-US" dirty="0" err="1" smtClean="0"/>
              <a:t>평문을</a:t>
            </a:r>
            <a:r>
              <a:rPr lang="ko-KR" altLang="en-US" dirty="0" smtClean="0"/>
              <a:t> 암호화 할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해독이 간단해질 수도 있음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1547664" y="436510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Cipher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Key</a:t>
                      </a:r>
                      <a:r>
                        <a:rPr lang="en-US" altLang="ko-KR" sz="1300" baseline="0" dirty="0" smtClean="0"/>
                        <a:t> Length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Speed(Mbps)</a:t>
                      </a:r>
                      <a:endParaRPr lang="ko-KR" altLang="en-US" sz="13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DES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56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9</a:t>
                      </a:r>
                      <a:endParaRPr lang="ko-KR" altLang="en-US" sz="13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3DES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168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3</a:t>
                      </a:r>
                      <a:endParaRPr lang="ko-KR" altLang="en-US" sz="13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RC2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Variable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0.9</a:t>
                      </a:r>
                      <a:endParaRPr lang="ko-KR" altLang="en-US" sz="13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RC4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Variable</a:t>
                      </a:r>
                      <a:endParaRPr lang="ko-KR" altLang="en-US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 smtClean="0"/>
                        <a:t>45</a:t>
                      </a:r>
                      <a:endParaRPr lang="ko-KR" altLang="en-US" sz="13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7.5 RC4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RSA Security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Ron </a:t>
            </a:r>
            <a:r>
              <a:rPr lang="en-US" altLang="ko-KR" dirty="0" err="1" smtClean="0"/>
              <a:t>Rivest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1987</a:t>
            </a:r>
            <a:r>
              <a:rPr lang="ko-KR" altLang="en-US" dirty="0" smtClean="0"/>
              <a:t>년에 고안한 </a:t>
            </a:r>
            <a:r>
              <a:rPr lang="ko-KR" altLang="en-US" dirty="0" err="1" smtClean="0"/>
              <a:t>스트림</a:t>
            </a:r>
            <a:r>
              <a:rPr lang="ko-KR" altLang="en-US" dirty="0" smtClean="0"/>
              <a:t> 암호 방식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바이트 단위로 작동되고 가변적 키 길이를 가지는 </a:t>
            </a:r>
            <a:r>
              <a:rPr lang="ko-KR" altLang="en-US" dirty="0" err="1" smtClean="0"/>
              <a:t>스트림</a:t>
            </a:r>
            <a:r>
              <a:rPr lang="ko-KR" altLang="en-US" dirty="0" smtClean="0"/>
              <a:t> 암호방식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랜덤 순열의 사용을 기반으로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알고리즘의 암호 주기가 </a:t>
            </a:r>
            <a:r>
              <a:rPr lang="en-US" altLang="ko-KR" dirty="0" smtClean="0"/>
              <a:t>10</a:t>
            </a:r>
            <a:r>
              <a:rPr lang="en-US" altLang="ko-KR" baseline="30000" dirty="0" smtClean="0"/>
              <a:t>100</a:t>
            </a:r>
            <a:r>
              <a:rPr lang="ko-KR" altLang="en-US" dirty="0" smtClean="0"/>
              <a:t>보다 압도적으로 큼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웹브라우저와</a:t>
            </a:r>
            <a:r>
              <a:rPr lang="ko-KR" altLang="en-US" dirty="0" smtClean="0"/>
              <a:t> 서버 사이의 통신 표준으로 규정된 </a:t>
            </a:r>
            <a:r>
              <a:rPr lang="en-US" altLang="ko-KR" dirty="0" smtClean="0"/>
              <a:t>SSL/TLS</a:t>
            </a:r>
            <a:r>
              <a:rPr lang="ko-KR" altLang="en-US" dirty="0" smtClean="0"/>
              <a:t>에서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무선 </a:t>
            </a:r>
            <a:r>
              <a:rPr lang="en-US" altLang="ko-KR" dirty="0" smtClean="0"/>
              <a:t>LAN </a:t>
            </a:r>
            <a:r>
              <a:rPr lang="ko-KR" altLang="en-US" dirty="0" smtClean="0"/>
              <a:t>표준인 </a:t>
            </a:r>
            <a:r>
              <a:rPr lang="en-US" altLang="ko-KR" dirty="0" smtClean="0"/>
              <a:t>WEP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WPA </a:t>
            </a:r>
            <a:r>
              <a:rPr lang="ko-KR" altLang="en-US" dirty="0" smtClean="0"/>
              <a:t>프로토콜에서 사용</a:t>
            </a:r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7.5 RC4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</a:t>
            </a:r>
            <a:r>
              <a:rPr lang="ko-KR" altLang="en-US" dirty="0" smtClean="0"/>
              <a:t>의 초기화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</a:t>
            </a:r>
            <a:r>
              <a:rPr lang="ko-KR" altLang="en-US" dirty="0" smtClean="0"/>
              <a:t>항목들을 오름차순으로 </a:t>
            </a:r>
            <a:r>
              <a:rPr lang="en-US" altLang="ko-KR" dirty="0" smtClean="0"/>
              <a:t>0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255</a:t>
            </a:r>
            <a:r>
              <a:rPr lang="ko-KR" altLang="en-US" dirty="0" smtClean="0"/>
              <a:t>까지의 값이 되도록 설정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S[1]=0, S[1]=1, …, S[256]=256</a:t>
            </a:r>
          </a:p>
          <a:p>
            <a:pPr lvl="2"/>
            <a:endParaRPr lang="en-US" altLang="ko-KR" dirty="0" smtClean="0"/>
          </a:p>
          <a:p>
            <a:pPr lvl="1"/>
            <a:r>
              <a:rPr lang="ko-KR" altLang="en-US" dirty="0" smtClean="0"/>
              <a:t>임시벡터 </a:t>
            </a:r>
            <a:r>
              <a:rPr lang="en-US" altLang="ko-KR" dirty="0" smtClean="0"/>
              <a:t>T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키 값의 길이가 </a:t>
            </a:r>
            <a:r>
              <a:rPr lang="en-US" altLang="ko-KR" dirty="0" smtClean="0"/>
              <a:t>256</a:t>
            </a:r>
            <a:r>
              <a:rPr lang="ko-KR" altLang="en-US" dirty="0" smtClean="0"/>
              <a:t>바이트일 때</a:t>
            </a:r>
            <a:endParaRPr lang="en-US" altLang="ko-KR" dirty="0" smtClean="0"/>
          </a:p>
          <a:p>
            <a:pPr lvl="3"/>
            <a:r>
              <a:rPr lang="en-US" altLang="ko-KR" dirty="0" smtClean="0"/>
              <a:t>K</a:t>
            </a:r>
            <a:r>
              <a:rPr lang="ko-KR" altLang="en-US" dirty="0" smtClean="0"/>
              <a:t>를 그대로 </a:t>
            </a:r>
            <a:r>
              <a:rPr lang="en-US" altLang="ko-KR" dirty="0" smtClean="0"/>
              <a:t>T</a:t>
            </a:r>
            <a:r>
              <a:rPr lang="ko-KR" altLang="en-US" dirty="0" smtClean="0"/>
              <a:t>로 전달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키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값의 길이가 </a:t>
            </a:r>
            <a:r>
              <a:rPr lang="en-US" altLang="ko-KR" dirty="0" smtClean="0"/>
              <a:t>256</a:t>
            </a:r>
            <a:r>
              <a:rPr lang="ko-KR" altLang="en-US" dirty="0" smtClean="0"/>
              <a:t>바이트 미만일 때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키의 길이 </a:t>
            </a:r>
            <a:r>
              <a:rPr lang="en-US" altLang="ko-KR" dirty="0" err="1" smtClean="0"/>
              <a:t>Keylen</a:t>
            </a:r>
            <a:r>
              <a:rPr lang="ko-KR" altLang="en-US" dirty="0" smtClean="0"/>
              <a:t>만큼 </a:t>
            </a:r>
            <a:r>
              <a:rPr lang="en-US" altLang="ko-KR" dirty="0" smtClean="0"/>
              <a:t>T</a:t>
            </a:r>
            <a:r>
              <a:rPr lang="ko-KR" altLang="en-US" dirty="0" smtClean="0"/>
              <a:t>에 전달하고</a:t>
            </a:r>
            <a:r>
              <a:rPr lang="en-US" altLang="ko-KR" dirty="0" smtClean="0"/>
              <a:t>, T</a:t>
            </a:r>
            <a:r>
              <a:rPr lang="ko-KR" altLang="en-US" dirty="0" smtClean="0"/>
              <a:t>가 채워질 때까지 </a:t>
            </a:r>
            <a:r>
              <a:rPr lang="en-US" altLang="ko-KR" dirty="0" smtClean="0"/>
              <a:t>K</a:t>
            </a:r>
            <a:r>
              <a:rPr lang="ko-KR" altLang="en-US" dirty="0" smtClean="0"/>
              <a:t>를 반복하여 채움</a:t>
            </a:r>
            <a:endParaRPr lang="en-US" altLang="ko-KR" dirty="0" smtClean="0"/>
          </a:p>
        </p:txBody>
      </p:sp>
      <p:grpSp>
        <p:nvGrpSpPr>
          <p:cNvPr id="8" name="그룹 7"/>
          <p:cNvGrpSpPr/>
          <p:nvPr/>
        </p:nvGrpSpPr>
        <p:grpSpPr>
          <a:xfrm>
            <a:off x="2483768" y="4966619"/>
            <a:ext cx="3744416" cy="1248463"/>
            <a:chOff x="2483768" y="4412019"/>
            <a:chExt cx="3744416" cy="1820715"/>
          </a:xfrm>
        </p:grpSpPr>
        <p:sp>
          <p:nvSpPr>
            <p:cNvPr id="6" name="모서리가 둥근 직사각형 5"/>
            <p:cNvSpPr/>
            <p:nvPr/>
          </p:nvSpPr>
          <p:spPr bwMode="auto">
            <a:xfrm>
              <a:off x="2483768" y="4432534"/>
              <a:ext cx="3744416" cy="18002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75856" y="4412019"/>
              <a:ext cx="2232248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300" dirty="0" smtClean="0">
                  <a:latin typeface="+mn-ea"/>
                  <a:ea typeface="+mn-ea"/>
                </a:rPr>
                <a:t>/* Initialization */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dirty="0" smtClean="0">
                  <a:latin typeface="+mn-ea"/>
                  <a:ea typeface="+mn-ea"/>
                </a:rPr>
                <a:t>for </a:t>
              </a:r>
              <a:r>
                <a:rPr lang="en-US" altLang="ko-KR" sz="13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300" b="0" dirty="0" smtClean="0">
                  <a:latin typeface="+mn-ea"/>
                  <a:ea typeface="+mn-ea"/>
                </a:rPr>
                <a:t> = 0 </a:t>
              </a:r>
              <a:r>
                <a:rPr lang="en-US" altLang="ko-KR" sz="1300" dirty="0" smtClean="0">
                  <a:latin typeface="+mn-ea"/>
                  <a:ea typeface="+mn-ea"/>
                </a:rPr>
                <a:t>to</a:t>
              </a:r>
              <a:r>
                <a:rPr lang="en-US" altLang="ko-KR" sz="1300" b="0" dirty="0" smtClean="0">
                  <a:latin typeface="+mn-ea"/>
                  <a:ea typeface="+mn-ea"/>
                </a:rPr>
                <a:t> 255 </a:t>
              </a:r>
              <a:r>
                <a:rPr lang="en-US" altLang="ko-KR" sz="1300" dirty="0" smtClean="0">
                  <a:latin typeface="+mn-ea"/>
                  <a:ea typeface="+mn-ea"/>
                </a:rPr>
                <a:t>do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b="0" dirty="0" smtClean="0">
                  <a:latin typeface="+mn-ea"/>
                  <a:ea typeface="+mn-ea"/>
                </a:rPr>
                <a:t>S[</a:t>
              </a:r>
              <a:r>
                <a:rPr lang="en-US" altLang="ko-KR" sz="13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300" b="0" dirty="0" smtClean="0">
                  <a:latin typeface="+mn-ea"/>
                  <a:ea typeface="+mn-ea"/>
                </a:rPr>
                <a:t>] = </a:t>
              </a:r>
              <a:r>
                <a:rPr lang="en-US" altLang="ko-KR" sz="13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300" b="0" dirty="0" smtClean="0">
                  <a:latin typeface="+mn-ea"/>
                  <a:ea typeface="+mn-ea"/>
                </a:rPr>
                <a:t>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300" b="0" dirty="0" smtClean="0">
                  <a:latin typeface="+mn-ea"/>
                  <a:ea typeface="+mn-ea"/>
                </a:rPr>
                <a:t>T[</a:t>
              </a:r>
              <a:r>
                <a:rPr lang="en-US" altLang="ko-KR" sz="13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300" b="0" dirty="0" smtClean="0">
                  <a:latin typeface="+mn-ea"/>
                  <a:ea typeface="+mn-ea"/>
                </a:rPr>
                <a:t>] = K[</a:t>
              </a:r>
              <a:r>
                <a:rPr lang="en-US" altLang="ko-KR" sz="13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300" b="0" dirty="0" smtClean="0">
                  <a:latin typeface="+mn-ea"/>
                  <a:ea typeface="+mn-ea"/>
                </a:rPr>
                <a:t> </a:t>
              </a:r>
              <a:r>
                <a:rPr lang="en-US" altLang="ko-KR" sz="1300" dirty="0" smtClean="0">
                  <a:latin typeface="+mn-ea"/>
                  <a:ea typeface="+mn-ea"/>
                </a:rPr>
                <a:t>mod</a:t>
              </a:r>
              <a:r>
                <a:rPr lang="en-US" altLang="ko-KR" sz="1300" b="0" dirty="0" smtClean="0">
                  <a:latin typeface="+mn-ea"/>
                  <a:ea typeface="+mn-ea"/>
                </a:rPr>
                <a:t> </a:t>
              </a:r>
              <a:r>
                <a:rPr lang="en-US" altLang="ko-KR" sz="1300" b="0" dirty="0" err="1" smtClean="0">
                  <a:latin typeface="+mn-ea"/>
                  <a:ea typeface="+mn-ea"/>
                </a:rPr>
                <a:t>keylen</a:t>
              </a:r>
              <a:r>
                <a:rPr lang="en-US" altLang="ko-KR" sz="1300" b="0" dirty="0" smtClean="0">
                  <a:latin typeface="+mn-ea"/>
                  <a:ea typeface="+mn-ea"/>
                </a:rPr>
                <a:t>];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7.5 RC4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</a:t>
            </a:r>
            <a:r>
              <a:rPr lang="ko-KR" altLang="en-US" dirty="0" smtClean="0"/>
              <a:t>의 초기</a:t>
            </a:r>
            <a:r>
              <a:rPr lang="en-US" altLang="ko-KR" dirty="0" smtClean="0"/>
              <a:t> </a:t>
            </a:r>
            <a:r>
              <a:rPr lang="ko-KR" altLang="en-US" dirty="0" smtClean="0"/>
              <a:t>순열 교환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S[0]</a:t>
            </a:r>
            <a:r>
              <a:rPr lang="ko-KR" altLang="en-US" dirty="0" smtClean="0"/>
              <a:t>부터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시작하여 </a:t>
            </a:r>
            <a:r>
              <a:rPr lang="en-US" altLang="ko-KR" dirty="0" smtClean="0"/>
              <a:t>S[255]</a:t>
            </a:r>
            <a:r>
              <a:rPr lang="ko-KR" altLang="en-US" dirty="0" smtClean="0"/>
              <a:t>까지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</a:t>
            </a:r>
            <a:r>
              <a:rPr lang="en-US" altLang="ko-KR" dirty="0" smtClean="0"/>
              <a:t>S[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]</a:t>
            </a:r>
            <a:r>
              <a:rPr lang="ko-KR" altLang="en-US" dirty="0" smtClean="0"/>
              <a:t>에 대하여 </a:t>
            </a:r>
            <a:r>
              <a:rPr lang="en-US" altLang="ko-KR" dirty="0" smtClean="0"/>
              <a:t>T[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] </a:t>
            </a:r>
            <a:r>
              <a:rPr lang="ko-KR" altLang="en-US" dirty="0" smtClean="0"/>
              <a:t>구조를 적용하여 </a:t>
            </a:r>
            <a:r>
              <a:rPr lang="en-US" altLang="ko-KR" dirty="0" smtClean="0"/>
              <a:t>S[j]</a:t>
            </a:r>
            <a:r>
              <a:rPr lang="ko-KR" altLang="en-US" dirty="0" smtClean="0"/>
              <a:t>를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S[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]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S[j]</a:t>
            </a:r>
            <a:r>
              <a:rPr lang="ko-KR" altLang="en-US" dirty="0" smtClean="0"/>
              <a:t>를 교환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r>
              <a:rPr lang="en-US" altLang="ko-KR" dirty="0" smtClean="0"/>
              <a:t>S</a:t>
            </a:r>
            <a:r>
              <a:rPr lang="ko-KR" altLang="en-US" dirty="0" smtClean="0"/>
              <a:t>에서 일어나는 동작은 오직 교환이며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결과는 순열</a:t>
            </a:r>
            <a:endParaRPr lang="en-US" altLang="ko-KR" dirty="0" smtClean="0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2483768" y="3861048"/>
            <a:ext cx="3744416" cy="1800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5816" y="4005064"/>
            <a:ext cx="2952328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dirty="0" smtClean="0">
                <a:latin typeface="+mn-ea"/>
                <a:ea typeface="+mn-ea"/>
              </a:rPr>
              <a:t>/* Initial </a:t>
            </a:r>
            <a:r>
              <a:rPr lang="en-US" altLang="ko-KR" sz="1300" dirty="0" err="1" smtClean="0">
                <a:latin typeface="+mn-ea"/>
                <a:ea typeface="+mn-ea"/>
              </a:rPr>
              <a:t>Permutaion</a:t>
            </a:r>
            <a:r>
              <a:rPr lang="en-US" altLang="ko-KR" sz="1300" dirty="0" smtClean="0">
                <a:latin typeface="+mn-ea"/>
                <a:ea typeface="+mn-ea"/>
              </a:rPr>
              <a:t> of S */</a:t>
            </a:r>
          </a:p>
          <a:p>
            <a:pPr>
              <a:lnSpc>
                <a:spcPct val="150000"/>
              </a:lnSpc>
            </a:pPr>
            <a:r>
              <a:rPr lang="en-US" altLang="ko-KR" sz="1300" b="0" dirty="0" smtClean="0">
                <a:latin typeface="+mn-ea"/>
                <a:ea typeface="+mn-ea"/>
              </a:rPr>
              <a:t>j = 0;</a:t>
            </a:r>
          </a:p>
          <a:p>
            <a:pPr>
              <a:lnSpc>
                <a:spcPct val="150000"/>
              </a:lnSpc>
            </a:pPr>
            <a:r>
              <a:rPr lang="en-US" altLang="ko-KR" sz="1300" dirty="0" smtClean="0">
                <a:latin typeface="+mn-ea"/>
                <a:ea typeface="+mn-ea"/>
              </a:rPr>
              <a:t>for </a:t>
            </a:r>
            <a:r>
              <a:rPr lang="en-US" altLang="ko-KR" sz="1300" b="0" dirty="0" err="1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 = 0 </a:t>
            </a:r>
            <a:r>
              <a:rPr lang="en-US" altLang="ko-KR" sz="1300" dirty="0" smtClean="0">
                <a:latin typeface="+mn-ea"/>
                <a:ea typeface="+mn-ea"/>
              </a:rPr>
              <a:t>to</a:t>
            </a:r>
            <a:r>
              <a:rPr lang="en-US" altLang="ko-KR" sz="1300" b="0" dirty="0" smtClean="0">
                <a:latin typeface="+mn-ea"/>
                <a:ea typeface="+mn-ea"/>
              </a:rPr>
              <a:t> 255 </a:t>
            </a:r>
            <a:r>
              <a:rPr lang="en-US" altLang="ko-KR" sz="1300" dirty="0" smtClean="0">
                <a:latin typeface="+mn-ea"/>
                <a:ea typeface="+mn-ea"/>
              </a:rPr>
              <a:t>do</a:t>
            </a:r>
          </a:p>
          <a:p>
            <a:pPr>
              <a:lnSpc>
                <a:spcPct val="150000"/>
              </a:lnSpc>
            </a:pPr>
            <a:r>
              <a:rPr lang="en-US" altLang="ko-KR" sz="1300" b="0" dirty="0" smtClean="0">
                <a:latin typeface="+mn-ea"/>
                <a:ea typeface="+mn-ea"/>
              </a:rPr>
              <a:t>  j=(</a:t>
            </a:r>
            <a:r>
              <a:rPr lang="en-US" altLang="ko-KR" sz="1300" b="0" dirty="0" err="1" smtClean="0">
                <a:latin typeface="+mn-ea"/>
                <a:ea typeface="+mn-ea"/>
              </a:rPr>
              <a:t>j+S</a:t>
            </a:r>
            <a:r>
              <a:rPr lang="en-US" altLang="ko-KR" sz="1300" b="0" dirty="0" smtClean="0">
                <a:latin typeface="+mn-ea"/>
                <a:ea typeface="+mn-ea"/>
              </a:rPr>
              <a:t>[</a:t>
            </a:r>
            <a:r>
              <a:rPr lang="en-US" altLang="ko-KR" sz="1300" b="0" dirty="0" err="1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]+T[</a:t>
            </a:r>
            <a:r>
              <a:rPr lang="en-US" altLang="ko-KR" sz="1300" b="0" dirty="0" err="1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]) </a:t>
            </a:r>
            <a:r>
              <a:rPr lang="en-US" altLang="ko-KR" sz="1300" dirty="0" smtClean="0">
                <a:latin typeface="+mn-ea"/>
                <a:ea typeface="+mn-ea"/>
              </a:rPr>
              <a:t>mod</a:t>
            </a:r>
            <a:r>
              <a:rPr lang="en-US" altLang="ko-KR" sz="1300" b="0" dirty="0" smtClean="0">
                <a:latin typeface="+mn-ea"/>
                <a:ea typeface="+mn-ea"/>
              </a:rPr>
              <a:t> 256;</a:t>
            </a:r>
          </a:p>
          <a:p>
            <a:pPr>
              <a:lnSpc>
                <a:spcPct val="150000"/>
              </a:lnSpc>
            </a:pPr>
            <a:r>
              <a:rPr lang="en-US" altLang="ko-KR" sz="1300" b="0" dirty="0" smtClean="0">
                <a:latin typeface="+mn-ea"/>
                <a:ea typeface="+mn-ea"/>
              </a:rPr>
              <a:t>swap(S[</a:t>
            </a:r>
            <a:r>
              <a:rPr lang="en-US" altLang="ko-KR" sz="1300" b="0" dirty="0" err="1" smtClean="0">
                <a:latin typeface="+mn-ea"/>
                <a:ea typeface="+mn-ea"/>
              </a:rPr>
              <a:t>i</a:t>
            </a:r>
            <a:r>
              <a:rPr lang="en-US" altLang="ko-KR" sz="1300" b="0" dirty="0" smtClean="0">
                <a:latin typeface="+mn-ea"/>
                <a:ea typeface="+mn-ea"/>
              </a:rPr>
              <a:t>], S[j]);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7.5 RC4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스트림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</a:t>
            </a:r>
            <a:r>
              <a:rPr lang="ko-KR" altLang="en-US" dirty="0" smtClean="0"/>
              <a:t>벡터 초기화 후 </a:t>
            </a:r>
            <a:r>
              <a:rPr lang="ko-KR" altLang="en-US" dirty="0" err="1" smtClean="0"/>
              <a:t>입력키는</a:t>
            </a:r>
            <a:r>
              <a:rPr lang="ko-KR" altLang="en-US" dirty="0" smtClean="0"/>
              <a:t> 사용되지 않음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스트림</a:t>
            </a:r>
            <a:r>
              <a:rPr lang="ko-KR" altLang="en-US" dirty="0" smtClean="0"/>
              <a:t> 생성은 </a:t>
            </a:r>
            <a:r>
              <a:rPr lang="en-US" altLang="ko-KR" dirty="0" smtClean="0"/>
              <a:t>S[0]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S[255]</a:t>
            </a:r>
            <a:r>
              <a:rPr lang="ko-KR" altLang="en-US" dirty="0" smtClean="0"/>
              <a:t>까지 포함하여 수행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각</a:t>
            </a:r>
            <a:r>
              <a:rPr lang="en-US" altLang="ko-KR" dirty="0" smtClean="0"/>
              <a:t> S[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]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S</a:t>
            </a:r>
            <a:r>
              <a:rPr lang="ko-KR" altLang="en-US" dirty="0" smtClean="0"/>
              <a:t>의 현재상태에 있는 내용에 따라 </a:t>
            </a:r>
            <a:r>
              <a:rPr lang="en-US" altLang="ko-KR" dirty="0" smtClean="0"/>
              <a:t>S</a:t>
            </a:r>
            <a:r>
              <a:rPr lang="ko-KR" altLang="en-US" dirty="0" smtClean="0"/>
              <a:t>의 다른 바이트와 교환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S[255]</a:t>
            </a:r>
            <a:r>
              <a:rPr lang="ko-KR" altLang="en-US" dirty="0" smtClean="0"/>
              <a:t>에 도달한 뒤에는 계속하여 </a:t>
            </a:r>
            <a:r>
              <a:rPr lang="en-US" altLang="ko-KR" dirty="0" smtClean="0"/>
              <a:t>S[0]</a:t>
            </a:r>
            <a:r>
              <a:rPr lang="ko-KR" altLang="en-US" dirty="0" smtClean="0"/>
              <a:t>부터 다시 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암호화 </a:t>
            </a:r>
            <a:r>
              <a:rPr lang="en-US" altLang="ko-KR" dirty="0" smtClean="0"/>
              <a:t>: k</a:t>
            </a:r>
            <a:r>
              <a:rPr lang="ko-KR" altLang="en-US" dirty="0" smtClean="0"/>
              <a:t>값과 </a:t>
            </a:r>
            <a:r>
              <a:rPr lang="ko-KR" altLang="en-US" dirty="0" err="1" smtClean="0"/>
              <a:t>평문의</a:t>
            </a:r>
            <a:r>
              <a:rPr lang="ko-KR" altLang="en-US" dirty="0" smtClean="0"/>
              <a:t> 다음 바이트를 </a:t>
            </a:r>
            <a:r>
              <a:rPr lang="en-US" altLang="ko-KR" dirty="0" smtClean="0"/>
              <a:t>XOR</a:t>
            </a:r>
            <a:r>
              <a:rPr lang="ko-KR" altLang="en-US" dirty="0" smtClean="0"/>
              <a:t>연산하여 수행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복호화</a:t>
            </a:r>
            <a:r>
              <a:rPr lang="ko-KR" altLang="en-US" dirty="0" smtClean="0"/>
              <a:t> </a:t>
            </a:r>
            <a:r>
              <a:rPr lang="en-US" altLang="ko-KR" dirty="0" smtClean="0"/>
              <a:t>: k</a:t>
            </a:r>
            <a:r>
              <a:rPr lang="ko-KR" altLang="en-US" dirty="0" smtClean="0"/>
              <a:t>값과 암호문의 다음 바이트를 </a:t>
            </a:r>
            <a:r>
              <a:rPr lang="en-US" altLang="ko-KR" dirty="0" smtClean="0"/>
              <a:t>XOR</a:t>
            </a:r>
            <a:r>
              <a:rPr lang="ko-KR" altLang="en-US" dirty="0" smtClean="0"/>
              <a:t>하여 </a:t>
            </a:r>
            <a:r>
              <a:rPr lang="ko-KR" altLang="en-US" dirty="0" err="1" smtClean="0"/>
              <a:t>복호화</a:t>
            </a:r>
            <a:r>
              <a:rPr lang="ko-KR" altLang="en-US" dirty="0" smtClean="0"/>
              <a:t> 수행</a:t>
            </a:r>
            <a:endParaRPr lang="en-US" altLang="ko-KR" dirty="0" smtClean="0"/>
          </a:p>
        </p:txBody>
      </p:sp>
      <p:grpSp>
        <p:nvGrpSpPr>
          <p:cNvPr id="8" name="그룹 7"/>
          <p:cNvGrpSpPr/>
          <p:nvPr/>
        </p:nvGrpSpPr>
        <p:grpSpPr>
          <a:xfrm>
            <a:off x="1907704" y="4143380"/>
            <a:ext cx="4896544" cy="2272610"/>
            <a:chOff x="1907704" y="3629180"/>
            <a:chExt cx="4896544" cy="2794774"/>
          </a:xfrm>
        </p:grpSpPr>
        <p:sp>
          <p:nvSpPr>
            <p:cNvPr id="6" name="모서리가 둥근 직사각형 5"/>
            <p:cNvSpPr/>
            <p:nvPr/>
          </p:nvSpPr>
          <p:spPr bwMode="auto">
            <a:xfrm>
              <a:off x="1907704" y="3717032"/>
              <a:ext cx="4896544" cy="266429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15816" y="3629180"/>
              <a:ext cx="2952328" cy="279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/* Stream Generation */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200" b="0" dirty="0" smtClean="0">
                  <a:latin typeface="+mn-ea"/>
                  <a:ea typeface="+mn-ea"/>
                </a:rPr>
                <a:t>, j = 0;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while</a:t>
              </a:r>
              <a:r>
                <a:rPr lang="en-US" altLang="ko-KR" sz="1200" b="0" dirty="0" smtClean="0">
                  <a:latin typeface="+mn-ea"/>
                  <a:ea typeface="+mn-ea"/>
                </a:rPr>
                <a:t> (true)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0" dirty="0" smtClean="0">
                  <a:latin typeface="+mn-ea"/>
                  <a:ea typeface="+mn-ea"/>
                </a:rPr>
                <a:t>  </a:t>
              </a:r>
              <a:r>
                <a:rPr lang="en-US" altLang="ko-KR" sz="12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200" b="0" dirty="0" smtClean="0">
                  <a:latin typeface="+mn-ea"/>
                  <a:ea typeface="+mn-ea"/>
                </a:rPr>
                <a:t> = (</a:t>
              </a:r>
              <a:r>
                <a:rPr lang="en-US" altLang="ko-KR" sz="12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200" b="0" dirty="0" smtClean="0">
                  <a:latin typeface="+mn-ea"/>
                  <a:ea typeface="+mn-ea"/>
                </a:rPr>
                <a:t> + 1) mod 256;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0" dirty="0" smtClean="0">
                  <a:latin typeface="+mn-ea"/>
                  <a:ea typeface="+mn-ea"/>
                </a:rPr>
                <a:t>  j = (j + S[</a:t>
              </a:r>
              <a:r>
                <a:rPr lang="en-US" altLang="ko-KR" sz="12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200" b="0" dirty="0" smtClean="0">
                  <a:latin typeface="+mn-ea"/>
                  <a:ea typeface="+mn-ea"/>
                </a:rPr>
                <a:t>]) mod 256;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Swap</a:t>
              </a:r>
              <a:r>
                <a:rPr lang="en-US" altLang="ko-KR" sz="1200" b="0" dirty="0" smtClean="0">
                  <a:latin typeface="+mn-ea"/>
                  <a:ea typeface="+mn-ea"/>
                </a:rPr>
                <a:t> (S[</a:t>
              </a:r>
              <a:r>
                <a:rPr lang="en-US" altLang="ko-KR" sz="12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200" b="0" dirty="0" smtClean="0">
                  <a:latin typeface="+mn-ea"/>
                  <a:ea typeface="+mn-ea"/>
                </a:rPr>
                <a:t>], S[j]);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0" dirty="0" smtClean="0">
                  <a:latin typeface="+mn-ea"/>
                  <a:ea typeface="+mn-ea"/>
                </a:rPr>
                <a:t>t=(S[</a:t>
              </a:r>
              <a:r>
                <a:rPr lang="en-US" altLang="ko-KR" sz="1200" b="0" dirty="0" err="1" smtClean="0">
                  <a:latin typeface="+mn-ea"/>
                  <a:ea typeface="+mn-ea"/>
                </a:rPr>
                <a:t>i</a:t>
              </a:r>
              <a:r>
                <a:rPr lang="en-US" altLang="ko-KR" sz="1200" b="0" dirty="0" smtClean="0">
                  <a:latin typeface="+mn-ea"/>
                  <a:ea typeface="+mn-ea"/>
                </a:rPr>
                <a:t>], S[j]) mod 256;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0" dirty="0" smtClean="0">
                  <a:latin typeface="+mn-ea"/>
                  <a:ea typeface="+mn-ea"/>
                </a:rPr>
                <a:t>k = S[t];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7.5 RC4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078004" y="980158"/>
            <a:ext cx="1785950" cy="357190"/>
            <a:chOff x="1785918" y="1928802"/>
            <a:chExt cx="1785950" cy="357190"/>
          </a:xfrm>
        </p:grpSpPr>
        <p:sp>
          <p:nvSpPr>
            <p:cNvPr id="7" name="직사각형 6"/>
            <p:cNvSpPr/>
            <p:nvPr/>
          </p:nvSpPr>
          <p:spPr>
            <a:xfrm>
              <a:off x="178591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14310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50029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85748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21467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endPara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845168" y="908720"/>
            <a:ext cx="646113" cy="27305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1050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중고딕" pitchFamily="18" charset="-127"/>
                <a:ea typeface="HY중고딕" pitchFamily="18" charset="-127"/>
              </a:rPr>
              <a:t>....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808525" y="980158"/>
            <a:ext cx="396243" cy="35719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253</a:t>
            </a:r>
            <a:endParaRPr lang="ko-KR" altLang="en-US" sz="7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205793" y="980158"/>
            <a:ext cx="357190" cy="35719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254</a:t>
            </a:r>
            <a:endParaRPr lang="ko-KR" altLang="en-US" sz="7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562983" y="980158"/>
            <a:ext cx="357190" cy="35719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255</a:t>
            </a:r>
            <a:endParaRPr lang="ko-KR" altLang="en-US" sz="7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1081175" y="1673700"/>
            <a:ext cx="1428760" cy="357190"/>
            <a:chOff x="1785918" y="1928802"/>
            <a:chExt cx="1428760" cy="357190"/>
          </a:xfrm>
        </p:grpSpPr>
        <p:sp>
          <p:nvSpPr>
            <p:cNvPr id="17" name="직사각형 16"/>
            <p:cNvSpPr/>
            <p:nvPr/>
          </p:nvSpPr>
          <p:spPr>
            <a:xfrm>
              <a:off x="178591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14310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50029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285748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직선 화살표 연결선 20"/>
          <p:cNvCxnSpPr/>
          <p:nvPr/>
        </p:nvCxnSpPr>
        <p:spPr>
          <a:xfrm flipV="1">
            <a:off x="1062125" y="1599295"/>
            <a:ext cx="1497825" cy="296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22" name="TextBox 21"/>
          <p:cNvSpPr txBox="1"/>
          <p:nvPr/>
        </p:nvSpPr>
        <p:spPr>
          <a:xfrm>
            <a:off x="1450950" y="1356398"/>
            <a:ext cx="626967" cy="276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err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keylen</a:t>
            </a:r>
            <a:endParaRPr lang="ko-KR" altLang="en-US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081175" y="2459518"/>
            <a:ext cx="357190" cy="35719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438365" y="2459518"/>
            <a:ext cx="357190" cy="35719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795555" y="2459518"/>
            <a:ext cx="357190" cy="35719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152745" y="2459518"/>
            <a:ext cx="357190" cy="35719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2938563" y="2451781"/>
            <a:ext cx="1785950" cy="357190"/>
            <a:chOff x="1785918" y="1928802"/>
            <a:chExt cx="1785950" cy="357190"/>
          </a:xfrm>
        </p:grpSpPr>
        <p:sp>
          <p:nvSpPr>
            <p:cNvPr id="28" name="직사각형 27"/>
            <p:cNvSpPr/>
            <p:nvPr/>
          </p:nvSpPr>
          <p:spPr>
            <a:xfrm>
              <a:off x="178591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14310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50029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85748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321467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2397226" y="2493058"/>
            <a:ext cx="646113" cy="27305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1050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중고딕" pitchFamily="18" charset="-127"/>
                <a:ea typeface="HY중고딕" pitchFamily="18" charset="-127"/>
              </a:rPr>
              <a:t>…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5176315" y="2451781"/>
            <a:ext cx="646113" cy="27305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1050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중고딕" pitchFamily="18" charset="-127"/>
                <a:ea typeface="HY중고딕" pitchFamily="18" charset="-127"/>
              </a:rPr>
              <a:t>…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4205397" y="2023153"/>
            <a:ext cx="646113" cy="27305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u="sng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1050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중고딕" pitchFamily="18" charset="-127"/>
                <a:ea typeface="HY중고딕" pitchFamily="18" charset="-127"/>
              </a:rPr>
              <a:t>…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중고딕" pitchFamily="18" charset="-127"/>
              <a:ea typeface="HY중고딕" pitchFamily="18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6520900" y="2408918"/>
            <a:ext cx="1795516" cy="357190"/>
            <a:chOff x="1776352" y="1928802"/>
            <a:chExt cx="1795516" cy="357190"/>
          </a:xfrm>
        </p:grpSpPr>
        <p:sp>
          <p:nvSpPr>
            <p:cNvPr id="37" name="직사각형 36"/>
            <p:cNvSpPr/>
            <p:nvPr/>
          </p:nvSpPr>
          <p:spPr>
            <a:xfrm>
              <a:off x="1776352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14310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250029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85748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214678" y="1928802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2" name="직선 화살표 연결선 41"/>
          <p:cNvCxnSpPr>
            <a:endCxn id="23" idx="0"/>
          </p:cNvCxnSpPr>
          <p:nvPr/>
        </p:nvCxnSpPr>
        <p:spPr>
          <a:xfrm rot="5400000">
            <a:off x="1045456" y="2245204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43" name="직선 화살표 연결선 42"/>
          <p:cNvCxnSpPr/>
          <p:nvPr/>
        </p:nvCxnSpPr>
        <p:spPr>
          <a:xfrm rot="5400000">
            <a:off x="1386771" y="2246198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44" name="직선 화살표 연결선 43"/>
          <p:cNvCxnSpPr/>
          <p:nvPr/>
        </p:nvCxnSpPr>
        <p:spPr>
          <a:xfrm rot="5400000">
            <a:off x="1742373" y="2246198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45" name="직선 화살표 연결선 44"/>
          <p:cNvCxnSpPr/>
          <p:nvPr/>
        </p:nvCxnSpPr>
        <p:spPr>
          <a:xfrm rot="5400000">
            <a:off x="2094801" y="2246960"/>
            <a:ext cx="428628" cy="1588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46" name="Shape 136"/>
          <p:cNvCxnSpPr/>
          <p:nvPr/>
        </p:nvCxnSpPr>
        <p:spPr>
          <a:xfrm>
            <a:off x="1257406" y="2075545"/>
            <a:ext cx="1878040" cy="376236"/>
          </a:xfrm>
          <a:prstGeom prst="bentConnector3">
            <a:avLst>
              <a:gd name="adj1" fmla="val 99957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47" name="Shape 138"/>
          <p:cNvCxnSpPr/>
          <p:nvPr/>
        </p:nvCxnSpPr>
        <p:spPr>
          <a:xfrm>
            <a:off x="1599529" y="2148884"/>
            <a:ext cx="1893107" cy="302897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48" name="Shape 140"/>
          <p:cNvCxnSpPr/>
          <p:nvPr/>
        </p:nvCxnSpPr>
        <p:spPr>
          <a:xfrm>
            <a:off x="1956719" y="2220322"/>
            <a:ext cx="1893107" cy="231459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49" name="Shape 142"/>
          <p:cNvCxnSpPr/>
          <p:nvPr/>
        </p:nvCxnSpPr>
        <p:spPr>
          <a:xfrm>
            <a:off x="2313909" y="2291760"/>
            <a:ext cx="1893107" cy="160021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0" name="Shape 148"/>
          <p:cNvCxnSpPr/>
          <p:nvPr/>
        </p:nvCxnSpPr>
        <p:spPr>
          <a:xfrm>
            <a:off x="1257406" y="2337482"/>
            <a:ext cx="3288512" cy="114299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1" name="Shape 136"/>
          <p:cNvCxnSpPr/>
          <p:nvPr/>
        </p:nvCxnSpPr>
        <p:spPr>
          <a:xfrm>
            <a:off x="4848339" y="2036488"/>
            <a:ext cx="1878040" cy="376236"/>
          </a:xfrm>
          <a:prstGeom prst="bentConnector3">
            <a:avLst>
              <a:gd name="adj1" fmla="val 99957"/>
            </a:avLst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2" name="Shape 154"/>
          <p:cNvCxnSpPr/>
          <p:nvPr/>
        </p:nvCxnSpPr>
        <p:spPr>
          <a:xfrm>
            <a:off x="5190462" y="2109827"/>
            <a:ext cx="1893107" cy="302897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3" name="Shape 155"/>
          <p:cNvCxnSpPr/>
          <p:nvPr/>
        </p:nvCxnSpPr>
        <p:spPr>
          <a:xfrm>
            <a:off x="5547652" y="2181265"/>
            <a:ext cx="1893107" cy="231459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4" name="Shape 156"/>
          <p:cNvCxnSpPr/>
          <p:nvPr/>
        </p:nvCxnSpPr>
        <p:spPr>
          <a:xfrm>
            <a:off x="5904842" y="2252703"/>
            <a:ext cx="1893107" cy="160021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55" name="Shape 157"/>
          <p:cNvCxnSpPr/>
          <p:nvPr/>
        </p:nvCxnSpPr>
        <p:spPr>
          <a:xfrm>
            <a:off x="4848339" y="2298425"/>
            <a:ext cx="3288512" cy="114299"/>
          </a:xfrm>
          <a:prstGeom prst="bentConnector2">
            <a:avLst/>
          </a:prstGeom>
          <a:ln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56" name="TextBox 55"/>
          <p:cNvSpPr txBox="1"/>
          <p:nvPr/>
        </p:nvSpPr>
        <p:spPr>
          <a:xfrm>
            <a:off x="776373" y="2480356"/>
            <a:ext cx="288862" cy="3077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6373" y="1029571"/>
            <a:ext cx="285656" cy="3077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76373" y="1672513"/>
            <a:ext cx="300082" cy="3077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K</a:t>
            </a:r>
            <a:endParaRPr lang="ko-KR" altLang="en-US" sz="14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7" name="그룹 96"/>
          <p:cNvGrpSpPr/>
          <p:nvPr/>
        </p:nvGrpSpPr>
        <p:grpSpPr>
          <a:xfrm>
            <a:off x="784151" y="3200563"/>
            <a:ext cx="7272808" cy="1452573"/>
            <a:chOff x="784151" y="3200563"/>
            <a:chExt cx="7272808" cy="1452573"/>
          </a:xfrm>
        </p:grpSpPr>
        <p:grpSp>
          <p:nvGrpSpPr>
            <p:cNvPr id="59" name="그룹 58"/>
            <p:cNvGrpSpPr/>
            <p:nvPr/>
          </p:nvGrpSpPr>
          <p:grpSpPr>
            <a:xfrm>
              <a:off x="784151" y="3200563"/>
              <a:ext cx="7272808" cy="1452573"/>
              <a:chOff x="1442595" y="1928802"/>
              <a:chExt cx="7272808" cy="1452573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7643833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8001023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8358213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7643833" y="264318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직사각형 63"/>
              <p:cNvSpPr/>
              <p:nvPr/>
            </p:nvSpPr>
            <p:spPr>
              <a:xfrm>
                <a:off x="8001023" y="264318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직사각형 64"/>
              <p:cNvSpPr/>
              <p:nvPr/>
            </p:nvSpPr>
            <p:spPr>
              <a:xfrm>
                <a:off x="8358213" y="264318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6" name="그룹 74"/>
              <p:cNvGrpSpPr/>
              <p:nvPr/>
            </p:nvGrpSpPr>
            <p:grpSpPr>
              <a:xfrm>
                <a:off x="1785917" y="1928802"/>
                <a:ext cx="1785950" cy="357190"/>
                <a:chOff x="1785918" y="1928802"/>
                <a:chExt cx="1785950" cy="357190"/>
              </a:xfrm>
            </p:grpSpPr>
            <p:sp>
              <p:nvSpPr>
                <p:cNvPr id="90" name="직사각형 89"/>
                <p:cNvSpPr/>
                <p:nvPr/>
              </p:nvSpPr>
              <p:spPr>
                <a:xfrm>
                  <a:off x="178591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직사각형 90"/>
                <p:cNvSpPr/>
                <p:nvPr/>
              </p:nvSpPr>
              <p:spPr>
                <a:xfrm>
                  <a:off x="214310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직사각형 91"/>
                <p:cNvSpPr/>
                <p:nvPr/>
              </p:nvSpPr>
              <p:spPr>
                <a:xfrm>
                  <a:off x="250029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직사각형 92"/>
                <p:cNvSpPr/>
                <p:nvPr/>
              </p:nvSpPr>
              <p:spPr>
                <a:xfrm>
                  <a:off x="285748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직사각형 93"/>
                <p:cNvSpPr/>
                <p:nvPr/>
              </p:nvSpPr>
              <p:spPr>
                <a:xfrm>
                  <a:off x="321467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7" name="그룹 75"/>
              <p:cNvGrpSpPr/>
              <p:nvPr/>
            </p:nvGrpSpPr>
            <p:grpSpPr>
              <a:xfrm>
                <a:off x="1785917" y="2643182"/>
                <a:ext cx="1785950" cy="357190"/>
                <a:chOff x="1785918" y="1928802"/>
                <a:chExt cx="1785950" cy="357190"/>
              </a:xfrm>
            </p:grpSpPr>
            <p:sp>
              <p:nvSpPr>
                <p:cNvPr id="85" name="직사각형 84"/>
                <p:cNvSpPr/>
                <p:nvPr/>
              </p:nvSpPr>
              <p:spPr>
                <a:xfrm>
                  <a:off x="178591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직사각형 85"/>
                <p:cNvSpPr/>
                <p:nvPr/>
              </p:nvSpPr>
              <p:spPr>
                <a:xfrm>
                  <a:off x="214310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직사각형 86"/>
                <p:cNvSpPr/>
                <p:nvPr/>
              </p:nvSpPr>
              <p:spPr>
                <a:xfrm>
                  <a:off x="250029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직사각형 87"/>
                <p:cNvSpPr/>
                <p:nvPr/>
              </p:nvSpPr>
              <p:spPr>
                <a:xfrm>
                  <a:off x="285748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직사각형 88"/>
                <p:cNvSpPr/>
                <p:nvPr/>
              </p:nvSpPr>
              <p:spPr>
                <a:xfrm>
                  <a:off x="3214678" y="1928802"/>
                  <a:ext cx="357190" cy="357190"/>
                </a:xfrm>
                <a:prstGeom prst="rect">
                  <a:avLst/>
                </a:prstGeom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8" name="Rectangle 10"/>
              <p:cNvSpPr>
                <a:spLocks noChangeArrowheads="1"/>
              </p:cNvSpPr>
              <p:nvPr/>
            </p:nvSpPr>
            <p:spPr bwMode="auto">
              <a:xfrm>
                <a:off x="3500429" y="1941504"/>
                <a:ext cx="646113" cy="273050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1050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altLang="ko-KR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Y중고딕" pitchFamily="18" charset="-127"/>
                    <a:ea typeface="HY중고딕" pitchFamily="18" charset="-127"/>
                  </a:rPr>
                  <a:t>…</a:t>
                </a:r>
                <a:endPara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endParaRPr>
              </a:p>
            </p:txBody>
          </p:sp>
          <p:sp>
            <p:nvSpPr>
              <p:cNvPr id="69" name="Rectangle 10"/>
              <p:cNvSpPr>
                <a:spLocks noChangeArrowheads="1"/>
              </p:cNvSpPr>
              <p:nvPr/>
            </p:nvSpPr>
            <p:spPr bwMode="auto">
              <a:xfrm>
                <a:off x="3500429" y="2655884"/>
                <a:ext cx="646113" cy="273050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1050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altLang="ko-KR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Y중고딕" pitchFamily="18" charset="-127"/>
                    <a:ea typeface="HY중고딕" pitchFamily="18" charset="-127"/>
                  </a:rPr>
                  <a:t>…</a:t>
                </a:r>
                <a:endPara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endParaRPr>
              </a:p>
            </p:txBody>
          </p:sp>
          <p:cxnSp>
            <p:nvCxnSpPr>
              <p:cNvPr id="70" name="직선 화살표 연결선 69"/>
              <p:cNvCxnSpPr/>
              <p:nvPr/>
            </p:nvCxnSpPr>
            <p:spPr>
              <a:xfrm rot="10800000">
                <a:off x="1785917" y="2500306"/>
                <a:ext cx="2357454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stealth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71" name="직선 화살표 연결선 70"/>
              <p:cNvCxnSpPr/>
              <p:nvPr/>
            </p:nvCxnSpPr>
            <p:spPr>
              <a:xfrm>
                <a:off x="5186366" y="2508243"/>
                <a:ext cx="178595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stealth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72" name="직사각형 71"/>
              <p:cNvSpPr/>
              <p:nvPr/>
            </p:nvSpPr>
            <p:spPr>
              <a:xfrm>
                <a:off x="4090983" y="2344930"/>
                <a:ext cx="1205523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altLang="ko-KR" sz="12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j=(</a:t>
                </a:r>
                <a:r>
                  <a:rPr lang="en-US" altLang="ko-KR" sz="1200" b="1" dirty="0" err="1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j+S</a:t>
                </a:r>
                <a:r>
                  <a:rPr lang="en-US" altLang="ko-KR" sz="12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[</a:t>
                </a:r>
                <a:r>
                  <a:rPr lang="en-US" altLang="ko-KR" sz="1200" b="1" dirty="0" err="1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i</a:t>
                </a:r>
                <a:r>
                  <a:rPr lang="en-US" altLang="ko-KR" sz="12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]+T[</a:t>
                </a:r>
                <a:r>
                  <a:rPr lang="en-US" altLang="ko-KR" sz="1200" b="1" dirty="0" err="1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i</a:t>
                </a:r>
                <a:r>
                  <a:rPr lang="en-US" altLang="ko-KR" sz="12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])</a:t>
                </a:r>
                <a:endParaRPr lang="ko-KR" altLang="en-US" sz="12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3" name="직사각형 72"/>
              <p:cNvSpPr/>
              <p:nvPr/>
            </p:nvSpPr>
            <p:spPr>
              <a:xfrm>
                <a:off x="3995936" y="1928802"/>
                <a:ext cx="433187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 smtClean="0">
                    <a:solidFill>
                      <a:schemeClr val="tx1"/>
                    </a:solidFill>
                  </a:rPr>
                  <a:t>T[</a:t>
                </a:r>
                <a:r>
                  <a:rPr lang="en-US" altLang="ko-KR" sz="900" b="1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en-US" altLang="ko-KR" sz="900" b="1" dirty="0" smtClean="0">
                    <a:solidFill>
                      <a:schemeClr val="tx1"/>
                    </a:solidFill>
                  </a:rPr>
                  <a:t>]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직사각형 73"/>
              <p:cNvSpPr/>
              <p:nvPr/>
            </p:nvSpPr>
            <p:spPr>
              <a:xfrm>
                <a:off x="3995936" y="2662232"/>
                <a:ext cx="433187" cy="357190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 smtClean="0">
                    <a:solidFill>
                      <a:schemeClr val="tx1"/>
                    </a:solidFill>
                  </a:rPr>
                  <a:t>S[</a:t>
                </a:r>
                <a:r>
                  <a:rPr lang="en-US" altLang="ko-KR" sz="900" b="1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en-US" altLang="ko-KR" sz="900" b="1" dirty="0" smtClean="0">
                    <a:solidFill>
                      <a:schemeClr val="tx1"/>
                    </a:solidFill>
                  </a:rPr>
                  <a:t>]</a:t>
                </a:r>
                <a:endParaRPr lang="ko-KR" altLang="en-US" sz="9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5" name="Shape 41"/>
              <p:cNvCxnSpPr>
                <a:stCxn id="74" idx="3"/>
                <a:endCxn id="72" idx="2"/>
              </p:cNvCxnSpPr>
              <p:nvPr/>
            </p:nvCxnSpPr>
            <p:spPr>
              <a:xfrm flipV="1">
                <a:off x="4429123" y="2621929"/>
                <a:ext cx="264622" cy="21889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headEnd type="none"/>
                <a:tailEnd type="stealth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76" name="Rectangle 10"/>
              <p:cNvSpPr>
                <a:spLocks noChangeArrowheads="1"/>
              </p:cNvSpPr>
              <p:nvPr/>
            </p:nvSpPr>
            <p:spPr bwMode="auto">
              <a:xfrm>
                <a:off x="5426084" y="1941504"/>
                <a:ext cx="646113" cy="273050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1050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altLang="ko-KR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Y중고딕" pitchFamily="18" charset="-127"/>
                    <a:ea typeface="HY중고딕" pitchFamily="18" charset="-127"/>
                  </a:rPr>
                  <a:t>…</a:t>
                </a:r>
                <a:endPara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endParaRPr>
              </a:p>
            </p:txBody>
          </p:sp>
          <p:sp>
            <p:nvSpPr>
              <p:cNvPr id="77" name="Rectangle 10"/>
              <p:cNvSpPr>
                <a:spLocks noChangeArrowheads="1"/>
              </p:cNvSpPr>
              <p:nvPr/>
            </p:nvSpPr>
            <p:spPr bwMode="auto">
              <a:xfrm>
                <a:off x="5429255" y="2643182"/>
                <a:ext cx="646113" cy="273050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u="sng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1050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altLang="ko-KR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Y중고딕" pitchFamily="18" charset="-127"/>
                    <a:ea typeface="HY중고딕" pitchFamily="18" charset="-127"/>
                  </a:rPr>
                  <a:t>…</a:t>
                </a:r>
                <a:endPara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endParaRPr>
              </a:p>
            </p:txBody>
          </p:sp>
          <p:sp>
            <p:nvSpPr>
              <p:cNvPr id="78" name="직사각형 77"/>
              <p:cNvSpPr/>
              <p:nvPr/>
            </p:nvSpPr>
            <p:spPr>
              <a:xfrm>
                <a:off x="6929453" y="2643182"/>
                <a:ext cx="357190" cy="3571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S[j]</a:t>
                </a:r>
                <a:endParaRPr lang="ko-KR" altLang="en-US" sz="9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 rot="10800000">
                <a:off x="1785918" y="3100385"/>
                <a:ext cx="2357454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80" name="TextBox 79"/>
              <p:cNvSpPr txBox="1"/>
              <p:nvPr/>
            </p:nvSpPr>
            <p:spPr>
              <a:xfrm>
                <a:off x="2838437" y="3073598"/>
                <a:ext cx="22955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ko-KR" sz="1400" dirty="0" err="1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i</a:t>
                </a:r>
                <a:endParaRPr lang="ko-KR" altLang="en-US" sz="1400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81" name="구부러진 연결선 80"/>
              <p:cNvCxnSpPr>
                <a:stCxn id="74" idx="2"/>
                <a:endCxn id="78" idx="2"/>
              </p:cNvCxnSpPr>
              <p:nvPr/>
            </p:nvCxnSpPr>
            <p:spPr>
              <a:xfrm rot="5400000" flipH="1" flipV="1">
                <a:off x="5650764" y="1562138"/>
                <a:ext cx="19050" cy="2895518"/>
              </a:xfrm>
              <a:prstGeom prst="curvedConnector3">
                <a:avLst>
                  <a:gd name="adj1" fmla="val -1200000"/>
                </a:avLst>
              </a:prstGeom>
              <a:ln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82" name="직사각형 81"/>
              <p:cNvSpPr/>
              <p:nvPr/>
            </p:nvSpPr>
            <p:spPr>
              <a:xfrm>
                <a:off x="5492078" y="3055292"/>
                <a:ext cx="476412" cy="2308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ko-KR" sz="9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Swap</a:t>
                </a:r>
                <a:endParaRPr lang="ko-KR" altLang="en-US" sz="9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1442595" y="1947852"/>
                <a:ext cx="288862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ko-KR" sz="14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T</a:t>
                </a:r>
                <a:endParaRPr lang="ko-KR" altLang="en-US" sz="14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1442595" y="2643182"/>
                <a:ext cx="28565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ko-KR" sz="14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S</a:t>
                </a:r>
                <a:endParaRPr lang="ko-KR" altLang="en-US" sz="14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cxnSp>
          <p:nvCxnSpPr>
            <p:cNvPr id="95" name="직선 화살표 연결선 94"/>
            <p:cNvCxnSpPr/>
            <p:nvPr/>
          </p:nvCxnSpPr>
          <p:spPr>
            <a:xfrm>
              <a:off x="4417612" y="3407491"/>
              <a:ext cx="0" cy="23753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flipH="1">
              <a:off x="3770679" y="3407491"/>
              <a:ext cx="64693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직사각형 97"/>
          <p:cNvSpPr/>
          <p:nvPr/>
        </p:nvSpPr>
        <p:spPr bwMode="auto">
          <a:xfrm>
            <a:off x="395536" y="711399"/>
            <a:ext cx="2232248" cy="2506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Initial state of S and T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395536" y="2871639"/>
            <a:ext cx="2232248" cy="2506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Initial permutation of S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813146" y="4797152"/>
            <a:ext cx="7215238" cy="1776415"/>
            <a:chOff x="1500166" y="3938601"/>
            <a:chExt cx="7215238" cy="1776415"/>
          </a:xfrm>
        </p:grpSpPr>
        <p:sp>
          <p:nvSpPr>
            <p:cNvPr id="101" name="직사각형 100"/>
            <p:cNvSpPr/>
            <p:nvPr/>
          </p:nvSpPr>
          <p:spPr>
            <a:xfrm>
              <a:off x="7643834" y="4236853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8001024" y="4236853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8358214" y="4236853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grpSp>
          <p:nvGrpSpPr>
            <p:cNvPr id="104" name="그룹 51"/>
            <p:cNvGrpSpPr/>
            <p:nvPr/>
          </p:nvGrpSpPr>
          <p:grpSpPr>
            <a:xfrm>
              <a:off x="1785918" y="4236853"/>
              <a:ext cx="1785950" cy="357190"/>
              <a:chOff x="1785918" y="1928802"/>
              <a:chExt cx="1785950" cy="357190"/>
            </a:xfrm>
          </p:grpSpPr>
          <p:sp>
            <p:nvSpPr>
              <p:cNvPr id="130" name="직사각형 129"/>
              <p:cNvSpPr/>
              <p:nvPr/>
            </p:nvSpPr>
            <p:spPr>
              <a:xfrm>
                <a:off x="1785918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직사각형 130"/>
              <p:cNvSpPr/>
              <p:nvPr/>
            </p:nvSpPr>
            <p:spPr>
              <a:xfrm>
                <a:off x="2143108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직사각형 131"/>
              <p:cNvSpPr/>
              <p:nvPr/>
            </p:nvSpPr>
            <p:spPr>
              <a:xfrm>
                <a:off x="2500298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직사각형 132"/>
              <p:cNvSpPr/>
              <p:nvPr/>
            </p:nvSpPr>
            <p:spPr>
              <a:xfrm>
                <a:off x="2857488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직사각형 133"/>
              <p:cNvSpPr/>
              <p:nvPr/>
            </p:nvSpPr>
            <p:spPr>
              <a:xfrm>
                <a:off x="3214678" y="1928802"/>
                <a:ext cx="357190" cy="357190"/>
              </a:xfrm>
              <a:prstGeom prst="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5" name="Rectangle 10"/>
            <p:cNvSpPr>
              <a:spLocks noChangeArrowheads="1"/>
            </p:cNvSpPr>
            <p:nvPr/>
          </p:nvSpPr>
          <p:spPr bwMode="auto">
            <a:xfrm>
              <a:off x="3500430" y="4249555"/>
              <a:ext cx="646113" cy="273050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10507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rPr>
                <a:t>…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중고딕" pitchFamily="18" charset="-127"/>
                <a:ea typeface="HY중고딕" pitchFamily="18" charset="-127"/>
              </a:endParaRPr>
            </a:p>
          </p:txBody>
        </p:sp>
        <p:cxnSp>
          <p:nvCxnSpPr>
            <p:cNvPr id="106" name="직선 화살표 연결선 105"/>
            <p:cNvCxnSpPr/>
            <p:nvPr/>
          </p:nvCxnSpPr>
          <p:spPr>
            <a:xfrm rot="10800000">
              <a:off x="1785918" y="4093977"/>
              <a:ext cx="2357454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07" name="직선 화살표 연결선 106"/>
            <p:cNvCxnSpPr/>
            <p:nvPr/>
          </p:nvCxnSpPr>
          <p:spPr>
            <a:xfrm flipV="1">
              <a:off x="4783933" y="4102894"/>
              <a:ext cx="773906" cy="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sp>
          <p:nvSpPr>
            <p:cNvPr id="108" name="직사각형 107"/>
            <p:cNvSpPr/>
            <p:nvPr/>
          </p:nvSpPr>
          <p:spPr>
            <a:xfrm>
              <a:off x="4090984" y="3938601"/>
              <a:ext cx="729687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j=</a:t>
              </a:r>
              <a:r>
                <a:rPr lang="en-US" altLang="ko-KR" sz="1200" b="1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j+S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en-US" altLang="ko-KR" sz="1200" b="1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i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4071934" y="4255903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S[</a:t>
              </a:r>
              <a:r>
                <a:rPr lang="en-US" altLang="ko-KR" sz="900" b="1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i</a:t>
              </a:r>
              <a:r>
                <a:rPr lang="en-US" altLang="ko-KR" sz="9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10" name="Shape 62"/>
            <p:cNvCxnSpPr>
              <a:stCxn id="109" idx="3"/>
            </p:cNvCxnSpPr>
            <p:nvPr/>
          </p:nvCxnSpPr>
          <p:spPr>
            <a:xfrm flipV="1">
              <a:off x="4429124" y="4224353"/>
              <a:ext cx="169579" cy="210145"/>
            </a:xfrm>
            <a:prstGeom prst="bentConnector2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sp>
          <p:nvSpPr>
            <p:cNvPr id="111" name="Rectangle 10"/>
            <p:cNvSpPr>
              <a:spLocks noChangeArrowheads="1"/>
            </p:cNvSpPr>
            <p:nvPr/>
          </p:nvSpPr>
          <p:spPr bwMode="auto">
            <a:xfrm>
              <a:off x="4733925" y="4246378"/>
              <a:ext cx="646113" cy="273050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10507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rPr>
                <a:t>…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중고딕" pitchFamily="18" charset="-127"/>
                <a:ea typeface="HY중고딕" pitchFamily="18" charset="-127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6572263" y="4236853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S[t]</a:t>
              </a:r>
              <a:endPara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13" name="직선 화살표 연결선 112"/>
            <p:cNvCxnSpPr/>
            <p:nvPr/>
          </p:nvCxnSpPr>
          <p:spPr>
            <a:xfrm rot="10800000">
              <a:off x="1785919" y="4694056"/>
              <a:ext cx="2357454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sp>
          <p:nvSpPr>
            <p:cNvPr id="114" name="직사각형 113"/>
            <p:cNvSpPr/>
            <p:nvPr/>
          </p:nvSpPr>
          <p:spPr>
            <a:xfrm>
              <a:off x="5572131" y="4248166"/>
              <a:ext cx="357190" cy="357190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S[j]</a:t>
              </a:r>
              <a:endPara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15" name="그룹 69"/>
            <p:cNvGrpSpPr/>
            <p:nvPr/>
          </p:nvGrpSpPr>
          <p:grpSpPr>
            <a:xfrm>
              <a:off x="4214809" y="4652981"/>
              <a:ext cx="1500198" cy="285752"/>
              <a:chOff x="3857620" y="6000768"/>
              <a:chExt cx="2857520" cy="285752"/>
            </a:xfrm>
          </p:grpSpPr>
          <p:cxnSp>
            <p:nvCxnSpPr>
              <p:cNvPr id="128" name="구부러진 연결선 127"/>
              <p:cNvCxnSpPr/>
              <p:nvPr/>
            </p:nvCxnSpPr>
            <p:spPr>
              <a:xfrm rot="5400000" flipH="1" flipV="1">
                <a:off x="5276855" y="4581533"/>
                <a:ext cx="19050" cy="2857520"/>
              </a:xfrm>
              <a:prstGeom prst="curvedConnector3">
                <a:avLst>
                  <a:gd name="adj1" fmla="val -1200000"/>
                </a:avLst>
              </a:prstGeom>
              <a:ln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</p:cxnSp>
          <p:sp>
            <p:nvSpPr>
              <p:cNvPr id="129" name="직사각형 128"/>
              <p:cNvSpPr/>
              <p:nvPr/>
            </p:nvSpPr>
            <p:spPr>
              <a:xfrm>
                <a:off x="4883650" y="6055688"/>
                <a:ext cx="907451" cy="2308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 lvl="0" algn="ctr"/>
                <a:r>
                  <a:rPr lang="en-US" altLang="ko-KR" sz="900" b="1" dirty="0" smtClean="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</a:rPr>
                  <a:t>Swap</a:t>
                </a:r>
                <a:endParaRPr lang="ko-KR" altLang="en-US" sz="90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16" name="Rectangle 10"/>
            <p:cNvSpPr>
              <a:spLocks noChangeArrowheads="1"/>
            </p:cNvSpPr>
            <p:nvPr/>
          </p:nvSpPr>
          <p:spPr bwMode="auto">
            <a:xfrm>
              <a:off x="5929321" y="4247213"/>
              <a:ext cx="646113" cy="273050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10507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rPr>
                <a:t>…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중고딕" pitchFamily="18" charset="-127"/>
                <a:ea typeface="HY중고딕" pitchFamily="18" charset="-127"/>
              </a:endParaRPr>
            </a:p>
          </p:txBody>
        </p:sp>
        <p:sp>
          <p:nvSpPr>
            <p:cNvPr id="117" name="Rectangle 10"/>
            <p:cNvSpPr>
              <a:spLocks noChangeArrowheads="1"/>
            </p:cNvSpPr>
            <p:nvPr/>
          </p:nvSpPr>
          <p:spPr bwMode="auto">
            <a:xfrm>
              <a:off x="6926282" y="4247213"/>
              <a:ext cx="646113" cy="273050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u="sng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10507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2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HY중고딕" pitchFamily="18" charset="-127"/>
                  <a:ea typeface="HY중고딕" pitchFamily="18" charset="-127"/>
                </a:rPr>
                <a:t>…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중고딕" pitchFamily="18" charset="-127"/>
                <a:ea typeface="HY중고딕" pitchFamily="18" charset="-127"/>
              </a:endParaRPr>
            </a:p>
          </p:txBody>
        </p:sp>
        <p:cxnSp>
          <p:nvCxnSpPr>
            <p:cNvPr id="118" name="직선 화살표 연결선 117"/>
            <p:cNvCxnSpPr>
              <a:stCxn id="112" idx="2"/>
            </p:cNvCxnSpPr>
            <p:nvPr/>
          </p:nvCxnSpPr>
          <p:spPr>
            <a:xfrm rot="16200000" flipH="1">
              <a:off x="6370148" y="4974752"/>
              <a:ext cx="763787" cy="236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19" name="직선 화살표 연결선 118"/>
            <p:cNvCxnSpPr/>
            <p:nvPr/>
          </p:nvCxnSpPr>
          <p:spPr>
            <a:xfrm rot="10800000">
              <a:off x="1785918" y="5245738"/>
              <a:ext cx="2357454" cy="15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0" name="직선 화살표 연결선 119"/>
            <p:cNvCxnSpPr/>
            <p:nvPr/>
          </p:nvCxnSpPr>
          <p:spPr>
            <a:xfrm flipV="1">
              <a:off x="5798357" y="5254655"/>
              <a:ext cx="773906" cy="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sp>
          <p:nvSpPr>
            <p:cNvPr id="121" name="직사각형 120"/>
            <p:cNvSpPr/>
            <p:nvPr/>
          </p:nvSpPr>
          <p:spPr>
            <a:xfrm>
              <a:off x="4527721" y="5135627"/>
              <a:ext cx="955711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t=S[</a:t>
              </a:r>
              <a:r>
                <a:rPr lang="en-US" altLang="ko-KR" sz="1200" b="1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i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]+S[j]</a:t>
              </a:r>
              <a:endParaRPr lang="ko-KR" altLang="en-US" sz="12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2" name="직선 연결선 121"/>
            <p:cNvCxnSpPr/>
            <p:nvPr/>
          </p:nvCxnSpPr>
          <p:spPr>
            <a:xfrm rot="5400000">
              <a:off x="4033834" y="4756963"/>
              <a:ext cx="285752" cy="1588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5642776" y="4752200"/>
              <a:ext cx="285752" cy="1588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4" name="직선 화살표 연결선 123"/>
            <p:cNvCxnSpPr/>
            <p:nvPr/>
          </p:nvCxnSpPr>
          <p:spPr>
            <a:xfrm rot="10800000" flipV="1">
              <a:off x="5238750" y="4895865"/>
              <a:ext cx="547688" cy="24288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25" name="직선 화살표 연결선 124"/>
            <p:cNvCxnSpPr/>
            <p:nvPr/>
          </p:nvCxnSpPr>
          <p:spPr>
            <a:xfrm>
              <a:off x="4176713" y="4893483"/>
              <a:ext cx="661987" cy="24526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sp>
          <p:nvSpPr>
            <p:cNvPr id="126" name="TextBox 125"/>
            <p:cNvSpPr txBox="1"/>
            <p:nvPr/>
          </p:nvSpPr>
          <p:spPr>
            <a:xfrm>
              <a:off x="6629397" y="5407239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400" dirty="0" err="1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k</a:t>
              </a:r>
              <a:endParaRPr lang="ko-KR" altLang="en-US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500166" y="4254716"/>
              <a:ext cx="285656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S</a:t>
              </a:r>
              <a:endParaRPr lang="ko-KR" altLang="en-US" sz="1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35" name="직사각형 134"/>
          <p:cNvSpPr/>
          <p:nvPr/>
        </p:nvSpPr>
        <p:spPr bwMode="auto">
          <a:xfrm>
            <a:off x="395536" y="4628406"/>
            <a:ext cx="2232248" cy="2506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Stream generation</a:t>
            </a:r>
            <a:endParaRPr kumimoji="1" lang="ko-KR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7.6 </a:t>
            </a:r>
            <a:r>
              <a:rPr lang="ko-KR" altLang="en-US" dirty="0" smtClean="0"/>
              <a:t>진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 err="1" smtClean="0"/>
              <a:t>앤트로피</a:t>
            </a:r>
            <a:r>
              <a:rPr lang="ko-KR" altLang="en-US" dirty="0" smtClean="0"/>
              <a:t> 소스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진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생성기는</a:t>
            </a:r>
            <a:r>
              <a:rPr lang="ko-KR" altLang="en-US" dirty="0" smtClean="0"/>
              <a:t> 임의성을 만들기 위해 비 결정적 소스 사용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예측 불가능한 자연계의 처리 과정들을 측정하는 방법 사용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전리</a:t>
            </a:r>
            <a:r>
              <a:rPr lang="en-US" altLang="ko-KR" dirty="0" smtClean="0"/>
              <a:t> </a:t>
            </a:r>
            <a:r>
              <a:rPr lang="ko-KR" altLang="en-US" dirty="0" smtClean="0"/>
              <a:t>방사선의 펄스 탐지기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가스 방전광</a:t>
            </a:r>
            <a:r>
              <a:rPr lang="en-US" altLang="ko-KR" dirty="0" smtClean="0"/>
              <a:t>, </a:t>
            </a:r>
            <a:r>
              <a:rPr lang="ko-KR" altLang="en-US" dirty="0" smtClean="0"/>
              <a:t>누전 축전기</a:t>
            </a:r>
            <a:endParaRPr lang="en-US" altLang="ko-KR" dirty="0" smtClean="0"/>
          </a:p>
          <a:p>
            <a:pPr lvl="3"/>
            <a:endParaRPr lang="en-US" altLang="ko-KR" dirty="0" smtClean="0"/>
          </a:p>
          <a:p>
            <a:pPr lvl="2"/>
            <a:r>
              <a:rPr lang="ko-KR" altLang="en-US" dirty="0" smtClean="0"/>
              <a:t>인텔</a:t>
            </a:r>
            <a:r>
              <a:rPr lang="en-US" altLang="ko-KR" dirty="0" smtClean="0"/>
              <a:t>[JUN99]</a:t>
            </a:r>
          </a:p>
          <a:p>
            <a:pPr lvl="3"/>
            <a:r>
              <a:rPr lang="ko-KR" altLang="en-US" dirty="0" smtClean="0"/>
              <a:t>사용되지 않는 저항기들 사이에서 측정된 전압을 증폭시켜 </a:t>
            </a:r>
            <a:r>
              <a:rPr lang="ko-KR" altLang="en-US" dirty="0" err="1" smtClean="0"/>
              <a:t>열잡음을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샘플링하는</a:t>
            </a:r>
            <a:r>
              <a:rPr lang="ko-KR" altLang="en-US" dirty="0" smtClean="0"/>
              <a:t> 상업화된 칩 개발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ko-KR" altLang="en-US" dirty="0" smtClean="0"/>
              <a:t>임의성의 소스 후보</a:t>
            </a:r>
            <a:r>
              <a:rPr lang="en-US" altLang="ko-KR" dirty="0" smtClean="0"/>
              <a:t>[RFC 4086]</a:t>
            </a:r>
          </a:p>
          <a:p>
            <a:pPr lvl="2"/>
            <a:r>
              <a:rPr lang="ko-KR" altLang="en-US" dirty="0" smtClean="0"/>
              <a:t>음향</a:t>
            </a:r>
            <a:r>
              <a:rPr lang="en-US" altLang="ko-KR" dirty="0" smtClean="0"/>
              <a:t>/</a:t>
            </a:r>
            <a:r>
              <a:rPr lang="ko-KR" altLang="en-US" dirty="0" smtClean="0"/>
              <a:t>영상입력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실세계의</a:t>
            </a:r>
            <a:r>
              <a:rPr lang="ko-KR" altLang="en-US" dirty="0" smtClean="0"/>
              <a:t> 아날로그 소스를 디지털화하는 입력들을 가지고 작동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r>
              <a:rPr lang="ko-KR" altLang="en-US" dirty="0" smtClean="0"/>
              <a:t>디스크 드라이브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환경에 따라 회전 속도가 </a:t>
            </a:r>
            <a:r>
              <a:rPr lang="ko-KR" altLang="en-US" dirty="0" err="1" smtClean="0"/>
              <a:t>랜덤하게</a:t>
            </a:r>
            <a:r>
              <a:rPr lang="ko-KR" altLang="en-US" dirty="0" smtClean="0"/>
              <a:t> 변동되는 것을 측정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7.6 </a:t>
            </a:r>
            <a:r>
              <a:rPr lang="ko-KR" altLang="en-US" dirty="0" smtClean="0"/>
              <a:t>진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생성기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Deskewing</a:t>
            </a:r>
            <a:r>
              <a:rPr lang="en-US" altLang="ko-KR" dirty="0" smtClean="0"/>
              <a:t> </a:t>
            </a:r>
            <a:r>
              <a:rPr lang="ko-KR" altLang="en-US" dirty="0" smtClean="0"/>
              <a:t>알고리즘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0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1</a:t>
            </a:r>
            <a:r>
              <a:rPr lang="ko-KR" altLang="en-US" dirty="0" smtClean="0"/>
              <a:t> 중 한쪽으로 편향된 출력물이 생성될 가능성 존재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이를 감소시키거나 없애기 위한 기법</a:t>
            </a:r>
            <a:endParaRPr lang="en-US" altLang="ko-KR" dirty="0" smtClean="0"/>
          </a:p>
          <a:p>
            <a:pPr lvl="3"/>
            <a:r>
              <a:rPr lang="ko-KR" altLang="en-US" dirty="0" err="1" smtClean="0"/>
              <a:t>해쉬함수를</a:t>
            </a:r>
            <a:r>
              <a:rPr lang="ko-KR" altLang="en-US" dirty="0" smtClean="0"/>
              <a:t> 이용</a:t>
            </a:r>
            <a:r>
              <a:rPr lang="en-US" altLang="ko-KR" dirty="0" smtClean="0"/>
              <a:t>(MD5, SHA-1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</a:t>
            </a:r>
          </a:p>
          <a:p>
            <a:pPr lvl="3"/>
            <a:endParaRPr lang="en-US" altLang="ko-KR" dirty="0" smtClean="0"/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smtClean="0">
                <a:solidFill>
                  <a:prstClr val="black"/>
                </a:solidFill>
              </a:rPr>
              <a:t>운영체제는 </a:t>
            </a:r>
            <a:r>
              <a:rPr lang="ko-KR" altLang="en-US" dirty="0" err="1" smtClean="0">
                <a:solidFill>
                  <a:prstClr val="black"/>
                </a:solidFill>
              </a:rPr>
              <a:t>난수를</a:t>
            </a:r>
            <a:r>
              <a:rPr lang="ko-KR" altLang="en-US" dirty="0" smtClean="0">
                <a:solidFill>
                  <a:prstClr val="black"/>
                </a:solidFill>
              </a:rPr>
              <a:t> 생성하는 내장형 메커니즘 제공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>
              <a:buClr>
                <a:prstClr val="black">
                  <a:lumMod val="75000"/>
                  <a:lumOff val="25000"/>
                </a:prstClr>
              </a:buClr>
            </a:pPr>
            <a:r>
              <a:rPr lang="ko-KR" altLang="en-US" dirty="0" err="1" smtClean="0">
                <a:solidFill>
                  <a:prstClr val="black"/>
                </a:solidFill>
              </a:rPr>
              <a:t>리눅스는</a:t>
            </a:r>
            <a:r>
              <a:rPr lang="ko-KR" altLang="en-US" dirty="0" smtClean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4</a:t>
            </a:r>
            <a:r>
              <a:rPr lang="ko-KR" altLang="en-US" dirty="0" smtClean="0">
                <a:solidFill>
                  <a:prstClr val="black"/>
                </a:solidFill>
              </a:rPr>
              <a:t>개의 엔트로피 소스</a:t>
            </a:r>
            <a:r>
              <a:rPr lang="en-US" altLang="ko-KR" dirty="0" smtClean="0">
                <a:solidFill>
                  <a:prstClr val="black"/>
                </a:solidFill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</a:rPr>
              <a:t>키보드</a:t>
            </a:r>
            <a:r>
              <a:rPr lang="en-US" altLang="ko-KR" dirty="0" smtClean="0">
                <a:solidFill>
                  <a:prstClr val="black"/>
                </a:solidFill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</a:rPr>
              <a:t>마우스</a:t>
            </a:r>
            <a:r>
              <a:rPr lang="en-US" altLang="ko-KR" dirty="0" smtClean="0">
                <a:solidFill>
                  <a:prstClr val="black"/>
                </a:solidFill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</a:rPr>
              <a:t>디스크</a:t>
            </a:r>
            <a:r>
              <a:rPr lang="en-US" altLang="ko-KR" dirty="0" smtClean="0">
                <a:solidFill>
                  <a:prstClr val="black"/>
                </a:solidFill>
              </a:rPr>
              <a:t>I/O</a:t>
            </a:r>
            <a:r>
              <a:rPr lang="ko-KR" altLang="en-US" dirty="0" smtClean="0">
                <a:solidFill>
                  <a:prstClr val="black"/>
                </a:solidFill>
              </a:rPr>
              <a:t>연산</a:t>
            </a:r>
            <a:r>
              <a:rPr lang="en-US" altLang="ko-KR" dirty="0" smtClean="0">
                <a:solidFill>
                  <a:prstClr val="black"/>
                </a:solidFill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</a:rPr>
              <a:t>특정 인터럽트</a:t>
            </a:r>
            <a:r>
              <a:rPr lang="en-US" altLang="ko-KR" dirty="0" smtClean="0">
                <a:solidFill>
                  <a:prstClr val="black"/>
                </a:solidFill>
              </a:rPr>
              <a:t>)</a:t>
            </a:r>
            <a:r>
              <a:rPr lang="ko-KR" altLang="en-US" dirty="0" smtClean="0">
                <a:solidFill>
                  <a:prstClr val="black"/>
                </a:solidFill>
              </a:rPr>
              <a:t>를 사용하여 버퍼 풀어 저장</a:t>
            </a:r>
            <a:r>
              <a:rPr lang="en-US" altLang="ko-KR" dirty="0" smtClean="0">
                <a:solidFill>
                  <a:prstClr val="black"/>
                </a:solidFill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</a:rPr>
              <a:t>이 중 일정 개수를 읽어서 </a:t>
            </a:r>
            <a:r>
              <a:rPr lang="en-US" altLang="ko-KR" dirty="0" smtClean="0">
                <a:solidFill>
                  <a:prstClr val="black"/>
                </a:solidFill>
              </a:rPr>
              <a:t>SHA-1 </a:t>
            </a:r>
            <a:r>
              <a:rPr lang="ko-KR" altLang="en-US" dirty="0" err="1" smtClean="0">
                <a:solidFill>
                  <a:prstClr val="black"/>
                </a:solidFill>
              </a:rPr>
              <a:t>해쉬</a:t>
            </a:r>
            <a:r>
              <a:rPr lang="ko-KR" altLang="en-US" dirty="0" smtClean="0">
                <a:solidFill>
                  <a:prstClr val="black"/>
                </a:solidFill>
              </a:rPr>
              <a:t> 함수 통과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3"/>
            <a:endParaRPr lang="en-US" altLang="ko-KR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샘플_3</Template>
  <TotalTime>202549</TotalTime>
  <Words>1806</Words>
  <Application>Microsoft Office PowerPoint</Application>
  <PresentationFormat>화면 슬라이드 쇼(4:3)</PresentationFormat>
  <Paragraphs>542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굴림</vt:lpstr>
      <vt:lpstr>Arial</vt:lpstr>
      <vt:lpstr>맑은 고딕</vt:lpstr>
      <vt:lpstr>Times New Roman</vt:lpstr>
      <vt:lpstr>HY중고딕</vt:lpstr>
      <vt:lpstr>Wingdings</vt:lpstr>
      <vt:lpstr>HY헤드라인M</vt:lpstr>
      <vt:lpstr>조선일보명조</vt:lpstr>
      <vt:lpstr>CSC</vt:lpstr>
      <vt:lpstr>7장 의사 난수 생성과 스트림 암호 (Stream Ciphers and Random Number Generation)</vt:lpstr>
      <vt:lpstr>목차</vt:lpstr>
      <vt:lpstr>핵심정리</vt:lpstr>
      <vt:lpstr>7.1 의사 난수 생성의 원리</vt:lpstr>
      <vt:lpstr>7.1 의사 난수 생성의 원리</vt:lpstr>
      <vt:lpstr>7.1 의사 난수 생성의 원리</vt:lpstr>
      <vt:lpstr>7.1 의사 난수 생성의 원리</vt:lpstr>
      <vt:lpstr>7.1 의사 난수 생성의 원리</vt:lpstr>
      <vt:lpstr>7.1 의사 난수 생성의 원리</vt:lpstr>
      <vt:lpstr>7.2 의사 난수 생성기</vt:lpstr>
      <vt:lpstr>7.2 의사 난수 생성기</vt:lpstr>
      <vt:lpstr>7.2 의사 난수 생성기</vt:lpstr>
      <vt:lpstr>7.2 의사 난수 생성기</vt:lpstr>
      <vt:lpstr>7.3 블록 암호를 사용한 의사 난수 생성</vt:lpstr>
      <vt:lpstr>7.3 블록 암호를 사용한 의사 난수 생성</vt:lpstr>
      <vt:lpstr>7.3 블록 암호를 사용한 의사 난수 생성</vt:lpstr>
      <vt:lpstr>7.3 블록 암호를 사용한 의사 난수 생성</vt:lpstr>
      <vt:lpstr>7.4 스트림 암호</vt:lpstr>
      <vt:lpstr>7.4 스트림 암호</vt:lpstr>
      <vt:lpstr>7.5 RC4</vt:lpstr>
      <vt:lpstr>7.5 RC4</vt:lpstr>
      <vt:lpstr>7.5 RC4</vt:lpstr>
      <vt:lpstr>7.5 RC4</vt:lpstr>
      <vt:lpstr>7.5 RC4</vt:lpstr>
      <vt:lpstr>7.6 진 난수 생성기</vt:lpstr>
      <vt:lpstr>7.6 진 난수 생성기</vt:lpstr>
    </vt:vector>
  </TitlesOfParts>
  <Company>(주)파워피티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순천향대학교 정보보호연구실</dc:creator>
  <cp:lastModifiedBy>kastropolos</cp:lastModifiedBy>
  <cp:revision>683</cp:revision>
  <dcterms:created xsi:type="dcterms:W3CDTF">2008-08-05T00:46:45Z</dcterms:created>
  <dcterms:modified xsi:type="dcterms:W3CDTF">2011-08-14T16:35:52Z</dcterms:modified>
</cp:coreProperties>
</file>